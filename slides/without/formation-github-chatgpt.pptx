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26"/>
  </p:notesMasterIdLst>
  <p:handoutMasterIdLst>
    <p:handoutMasterId r:id="rId27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13"/>
    <p:sldId id="269" r:id="rId12"/>
    <p:sldId id="270" r:id="rId11"/>
    <p:sldId id="271" r:id="rId10"/>
    <p:sldId id="272" r:id="rId9"/>
    <p:sldId id="273" r:id="rId8"/>
    <p:sldId id="274" r:id="rId7"/>
    <p:sldId id="275" r:id="rId6"/>
    <p:sldId id="276" r:id="rId5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295" r:id="rId53"/>
    <p:sldId id="316" r:id="rId74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8107F-36A8-A8D9-A450-80D0C4109E52}" v="2" dt="2025-03-13T11:58:19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6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18.xml"/><Relationship Id="rId9" Type="http://schemas.openxmlformats.org/officeDocument/2006/relationships/slide" Target="slides/slide17.xml"/><Relationship Id="rId10" Type="http://schemas.openxmlformats.org/officeDocument/2006/relationships/slide" Target="slides/slide16.xml"/><Relationship Id="rId11" Type="http://schemas.openxmlformats.org/officeDocument/2006/relationships/slide" Target="slides/slide15.xml"/><Relationship Id="rId12" Type="http://schemas.openxmlformats.org/officeDocument/2006/relationships/slide" Target="slides/slide14.xml"/><Relationship Id="rId13" Type="http://schemas.openxmlformats.org/officeDocument/2006/relationships/slide" Target="slides/slide13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74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75.xml"/><Relationship Id="rId75" Type="http://schemas.openxmlformats.org/officeDocument/2006/relationships/slide" Target="slides/slide60.xml"/><Relationship Id="rId76" Type="http://schemas.openxmlformats.org/officeDocument/2006/relationships/slide" Target="slides/slide61.xml"/><Relationship Id="rId77" Type="http://schemas.openxmlformats.org/officeDocument/2006/relationships/slide" Target="slides/slide62.xml"/><Relationship Id="rId78" Type="http://schemas.openxmlformats.org/officeDocument/2006/relationships/slide" Target="slides/slide63.xml"/><Relationship Id="rId79" Type="http://schemas.openxmlformats.org/officeDocument/2006/relationships/slide" Target="slides/slide64.xml"/><Relationship Id="rId80" Type="http://schemas.openxmlformats.org/officeDocument/2006/relationships/slide" Target="slides/slide65.xml"/><Relationship Id="rId81" Type="http://schemas.openxmlformats.org/officeDocument/2006/relationships/slide" Target="slides/slide66.xml"/><Relationship Id="rId82" Type="http://schemas.openxmlformats.org/officeDocument/2006/relationships/slide" Target="slides/slide67.xml"/><Relationship Id="rId83" Type="http://schemas.openxmlformats.org/officeDocument/2006/relationships/slide" Target="slides/slide68.xml"/><Relationship Id="rId84" Type="http://schemas.openxmlformats.org/officeDocument/2006/relationships/slide" Target="slides/slide69.xml"/><Relationship Id="rId85" Type="http://schemas.openxmlformats.org/officeDocument/2006/relationships/slide" Target="slides/slide70.xml"/><Relationship Id="rId86" Type="http://schemas.openxmlformats.org/officeDocument/2006/relationships/slide" Target="slides/slide71.xml"/><Relationship Id="rId87" Type="http://schemas.openxmlformats.org/officeDocument/2006/relationships/slide" Target="slides/slide72.xml"/><Relationship Id="rId88" Type="http://schemas.openxmlformats.org/officeDocument/2006/relationships/slide" Target="slides/slide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Cranny" userId="S::mijames@microsoft.com::1f2d3b60-5574-4909-bdf4-5617a7f7f73a" providerId="AD" clId="Web-{2FB8107F-36A8-A8D9-A450-80D0C4109E52}"/>
    <pc:docChg chg="addSld delSld">
      <pc:chgData name="Michelle Cranny" userId="S::mijames@microsoft.com::1f2d3b60-5574-4909-bdf4-5617a7f7f73a" providerId="AD" clId="Web-{2FB8107F-36A8-A8D9-A450-80D0C4109E52}" dt="2025-03-13T11:58:19.532" v="1"/>
      <pc:docMkLst>
        <pc:docMk/>
      </pc:docMkLst>
      <pc:sldChg chg="new del">
        <pc:chgData name="Michelle Cranny" userId="S::mijames@microsoft.com::1f2d3b60-5574-4909-bdf4-5617a7f7f73a" providerId="AD" clId="Web-{2FB8107F-36A8-A8D9-A450-80D0C4109E52}" dt="2025-03-13T11:58:19.532" v="1"/>
        <pc:sldMkLst>
          <pc:docMk/>
          <pc:sldMk cId="838637727" sldId="410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3/15/2025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Qui utilise déjà Copilot ou ChatGPT pour coder ? Pour quoi faire, concrètement ?</a:t>
            </a:r>
          </a:p>
          <a:p/>
          <a:p>
            <a:r>
              <a:t>Source : plan/programme-GHCG.md (page PLB)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Lequel de ces points vous concerne le plus dans votre travail ?</a:t>
            </a:r>
          </a:p>
          <a:p/>
          <a:p>
            <a:r>
              <a:t>Source : plan/deroule.md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Préférez-vous que je montre d'abord, ou que vous essayiez d'abord ?</a:t>
            </a:r>
          </a:p>
          <a:p/>
          <a:p>
            <a:r>
              <a:t>Source : plan/deroule.md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Qui n'a pas encore de compte GitHub ou ChatGPT ?</a:t>
            </a:r>
          </a:p>
          <a:p/>
          <a:p>
            <a:r>
              <a:t>Source : documentation VS Code, Set Up GitHub Copilot (https://code.visualstudio.com/docs/setup/copilot), relevé du 09/10/2026 ; plan/deroule.md ; documentation uv, Working on projects (https://docs.astral.sh/uv/guides/projects/), vérifiée le 23/10/2026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Pour vous, qu'est-ce qui distingue Copilot de ChatGPT ?</a:t>
            </a:r>
          </a:p>
          <a:p/>
          <a:p>
            <a:r>
              <a:t>Source : plan/programme-GHCG.md (page PLB), P1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Avez-vous déjà vu un assistant proposer une fonction qui n'existe pas ?</a:t>
            </a:r>
          </a:p>
          <a:p/>
          <a:p>
            <a:r>
              <a:t>Source : documentation VS Code, How Models Work (https://code.visualstudio.com/docs/agents/concepts/language-models), relevé du 09/10/2026 ; documentation API OpenAI, Pricing (facturation par million de jetons) (https://developers.openai.com/api/docs/pricing),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information votre équipe donne-t-elle à un nouvel arrivant, que l'IA n'a jamais ?</a:t>
            </a:r>
          </a:p>
          <a:p/>
          <a:p>
            <a:r>
              <a:t>Source : documentation VS Code, Context (https://code.visualstudio.com/docs/agents/concepts/context), relevé du 09/10/2026 ; centre d'aide OpenAI, Memory in ChatGPT (https://help.openai.com/en/articles/8590148-memory-in-chatgpt), vérifié le 22/10/2026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Dans votre code, quelle tâche répétitive aimeriez-vous déléguer ?</a:t>
            </a:r>
          </a:p>
          <a:p/>
          <a:p>
            <a:r>
              <a:t>Source : documentation GitHub Copilot, Best practices for using GitHub Copilot (https://docs.github.com/en/copilot/get-started/best-practices), relevé du 09/10/2026 ; documentation VS Code, How Models Work (https://code.visualstudio.com/docs/agents/concepts/language-models),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Lequel de ces modes utilisez-vous déjà ?</a:t>
            </a:r>
          </a:p>
          <a:p/>
          <a:p>
            <a:r>
              <a:t>Source : documentation VS Code, Agents (https://code.visualstudio.com/docs/agents/concepts/agents), relevé du 09/10/2026 ; documentation VS Code, Choose an Agent Harness (https://code.visualstudio.com/docs/agents/run/agent-harnesses),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Votre entreprise fournit-elle une licence Copilot ? Laquelle ?</a:t>
            </a:r>
          </a:p>
          <a:p/>
          <a:p>
            <a:r>
              <a:t>Source : documentation GitHub Copilot, Plans for GitHub Copilot (https://docs.github.com/en/copilot/get-started/plans), relevé du 09/10/2026 ; documentation VS Code, Reduce Credit Usage (https://code.visualstudio.com/docs/agents/guides/optimize-usage),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Qui a déjà appelé une API de modèle de langage depuis du code ?</a:t>
            </a:r>
          </a:p>
          <a:p/>
          <a:p>
            <a:r>
              <a:t>Source : documentation API OpenAI, Models (https://developers.openai.com/api/docs/models), relevé du 09/10/2026 ; documentation API OpenAI, Quickstart (https://developers.openai.com/api/docs/quickstart), relevé du 09/10/2026 ; centre d'aide OpenAI, Managing billing for ChatGPT and the API platform (https://help.openai.com/en/articles/9039756-managing-billing-for-chatgpt-and-the-api-platform), vérifié le 22/10/2026 ; centre d'aide OpenAI, Temporary chat in ChatGPT (https://help.openai.com/en/articles/8914046-temporary-chat-in-chatgpt), vérifié le 22/10/2026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Votre poste passe-t-il par un proxy qui pourrait bloquer la connexion ?</a:t>
            </a:r>
          </a:p>
          <a:p/>
          <a:p>
            <a:r>
              <a:t>Source : documentation VS Code, Set Up GitHub Copilot (https://code.visualstudio.com/docs/setup/copilot),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Préférez-vous accepter d'un coup, ou mot par mot ?</a:t>
            </a:r>
          </a:p>
          <a:p/>
          <a:p>
            <a:r>
              <a:t>Source : documentation VS Code, Cheat Sheet (https://code.visualstudio.com/docs/agents/reference/ai-features-cheat-sheet), relevé du 09/10/2026 ; documentation VS Code, Inline suggestions (https://code.visualstudio.com/docs/copilot/ai-powered-suggestions),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Avant de voir : que va proposer Copilot pour une fonction nommée slugifier ?</a:t>
            </a:r>
          </a:p>
          <a:p/>
          <a:p>
            <a:r>
              <a:t>Source : demos/demo1_premiers_pas/deroule.md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Qui est bloqué à l'installation ? Levez la main tout de suite.</a:t>
            </a:r>
          </a:p>
          <a:p/>
          <a:p>
            <a:r>
              <a:t>Source : tps/tp1_environnement/enonce.md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 test vous a fait refuser une première proposition ?</a:t>
            </a:r>
          </a:p>
          <a:p/>
          <a:p>
            <a:r>
              <a:t>Source : plan/programme-GHCG.md (page PLB), P1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Quand Copilot vous propose quelque chose de faux, que faites-vous aujourd'hui ?</a:t>
            </a:r>
          </a:p>
          <a:p/>
          <a:p>
            <a:r>
              <a:t>Source : plan/programme-GHCG.md (page PLB), P2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Quels fichiers garderiez-vous ouverts pour écrire un nouveau endpoint dans votre projet ?</a:t>
            </a:r>
          </a:p>
          <a:p/>
          <a:p>
            <a:r>
              <a:t>Source : documentation VS Code, Inline suggestions, tips (https://code.visualstudio.com/docs/copilot/ai-powered-suggestions), relevé du 09/10/2026 ; documentation GitHub Copilot, Prompt engineering, Indicate relevant code (https://docs.github.com/en/copilot/concepts/prompting/prompt-engineering),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Qu'est-ce qui manque à cette proposition pour gérer « Déjà vu » ?</a:t>
            </a:r>
          </a:p>
          <a:p/>
          <a:p>
            <a:r>
              <a:t>Source : documentation GitHub Copilot, Give examples (https://docs.github.com/en/copilot/concepts/prompting/prompt-engineering), relevé du 09/10/2026 ; documentation VS Code, Inline suggestions, tips (https://code.visualstudio.com/docs/copilot/ai-powered-suggestions),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Dans quel refactoring manuel cela vous aurait-il fait gagner du temps ?</a:t>
            </a:r>
          </a:p>
          <a:p/>
          <a:p>
            <a:r>
              <a:t>Source : documentation VS Code, Next edit suggestions (https://code.visualstudio.com/docs/copilot/ai-powered-suggestions),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petite modification répétitive feriez-vous avec l'inline chat ?</a:t>
            </a:r>
          </a:p>
          <a:p/>
          <a:p>
            <a:r>
              <a:t>Source : documentation VS Code, Inline &amp; Quick Chat (https://code.visualstudio.com/docs/chat/inline-chat), relevé du 09/10/2026 ; documentation VS Code, Cheat Sheet, slash commands (https://code.visualstudio.com/docs/agents/reference/ai-features-cheat-sheet),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Pour comprendre un module inconnu de votre projet, lequel choisiriez-vous ?</a:t>
            </a:r>
          </a:p>
          <a:p/>
          <a:p>
            <a:r>
              <a:t>Source : documentation VS Code, Chat View and Layout (https://code.visualstudio.com/docs/agents/run/chat-view), relevé du 09/10/2026 ; documentation VS Code, Agents, Plan agent (https://code.visualstudio.com/docs/agents/concepts/agents), relevé du 09/10/2026 ; documentation VS Code, Cheat Sheet (https://code.visualstudio.com/docs/agents/reference/ai-features-cheat-sheet),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référence aurait évité votre dernier aller-retour avec l'IA ?</a:t>
            </a:r>
          </a:p>
          <a:p/>
          <a:p>
            <a:r>
              <a:t>Source : documentation VS Code, Tools and Context (https://code.visualstudio.com/docs/agents/reference/tools-reference), relevé du 09/10/2026 ; documentation VS Code, Add Prompt Context (https://code.visualstudio.com/docs/chat/copilot-chat-context),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Votre projet a-t-il un README qui explique comment lancer les tests ? Est-il à jour ?</a:t>
            </a:r>
          </a:p>
          <a:p/>
          <a:p>
            <a:r>
              <a:t>Source : https://agents.md/ (format AGENTS.md, relevé du 09/10/2026) ; documentation VS Code, Instructions, AGENTS.md (https://code.visualstudio.com/docs/agent-customization/custom-instructions), relevé du 09/10/2026 ; documentation GitHub Copilot, Repository custom instructions, nearest AGENTS.md (https://docs.github.com/en/copilot/how-tos/configure-custom-instructions/add-repository-instructions),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section de cet exemple manque le plus dans vos projets ?</a:t>
            </a:r>
          </a:p>
          <a:p/>
          <a:p>
            <a:r>
              <a:t>Source : https://agents.md/ (sections recommandées) ; documentation VS Code, Instructions, tips (https://code.visualstudio.com/docs/agent-customization/custom-instructions), relevé du 09/10/2026 ; demos/demo2_copilot_avance/final/AGENTS.md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Qu'est-ce qui, dans votre environnement, ne serait pas annulé par un checkpoint ?</a:t>
            </a:r>
          </a:p>
          <a:p/>
          <a:p>
            <a:r>
              <a:t>Source : documentation VS Code, Review &amp; Revert Changes (https://code.visualstudio.com/docs/agents/run/review-code-edits), relevé du 09/10/2026; vérifié le 22/10/2026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Qui, dans votre équipe, devrait décider du niveau de permission autorisé ?</a:t>
            </a:r>
          </a:p>
          <a:p/>
          <a:p>
            <a:r>
              <a:t>Source : documentation VS Code, Approvals &amp; Permissions (https://code.visualstudio.com/docs/agents/run/approvals), relevé du 09/10/2026 ; documentation VS Code, AI Security (https://code.visualstudio.com/docs/agents/run/security),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 est le plus mauvais correctif qu'un outil vous ait proposé ?</a:t>
            </a:r>
          </a:p>
          <a:p/>
          <a:p>
            <a:r>
              <a:t>Source : documentation VS Code, Fix a Bug (https://code.visualstudio.com/docs/agents/guides/fix-a-bug-with-agents), relevé du 09/10/2026 ; documentation VS Code, Fix test failures (https://code.visualstudio.com/docs/copilot/guides/test-with-copilot),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Avez-vous déjà vu un test qui ne pouvait pas échouer ?</a:t>
            </a:r>
          </a:p>
          <a:p/>
          <a:p>
            <a:r>
              <a:t>Source : documentation VS Code, Test with Copilot (https://code.visualstudio.com/docs/copilot/guides/test-with-copilot), relevé du 09/10/2026 ; documentation VS Code, Add Tests (https://code.visualstudio.com/docs/agents/guides/test-code-with-ai),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Dans votre projet, où sont écrites les exigences qu'un test devrait vérifier ?</a:t>
            </a:r>
          </a:p>
          <a:p/>
          <a:p>
            <a:r>
              <a:t>Source : documentation VS Code, Define the behavior to test (https://code.visualstudio.com/docs/copilot/guides/test-with-copilot), relevé du 09/10/2026 ; demos/demo2_copilot_avance/panier.py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fonction de votre code n'oseriez-vous pas refactoriser aujourd'hui ? Pourquoi ?</a:t>
            </a:r>
          </a:p>
          <a:p/>
          <a:p>
            <a:r>
              <a:t>Source : documentation VS Code, Refactor Safely (https://code.visualstudio.com/docs/agents/guides/refactor-safely),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Laquelle de ces trois idées allez-vous appliquer dès demain ?</a:t>
            </a:r>
          </a:p>
          <a:p/>
          <a:p>
            <a:r>
              <a:t>Source : plan/programme-GHCG.md (page PLB), P2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À votre avis, combien de bugs contient un fichier de 60 lignes jamais testé ?</a:t>
            </a:r>
          </a:p>
          <a:p/>
          <a:p>
            <a:r>
              <a:t>Source : demos/demo2_copilot_avance/deroule.md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Qui veut faire le TP en binôme, un qui pilote, un qui relit ?</a:t>
            </a:r>
          </a:p>
          <a:p/>
          <a:p>
            <a:r>
              <a:t>Source : tps/tp2_module_reservations/enonce.md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Une question sur la matinée avant la pause déjeuner ?</a:t>
            </a:r>
          </a:p>
          <a:p/>
          <a:p>
            <a:r>
              <a:t>Source : documentation VS Code, Instructions (https://code.visualstudio.com/docs/agent-customization/custom-instructions), relevé du 09/10/2026 ; documentation VS Code, Plan agent (https://code.visualstudio.com/docs/agents/concepts/agents), relevé du 09/10/2026 ; documentation VS Code, Test with Copilot (https://code.visualstudio.com/docs/copilot/guides/test-with-copilot),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Qui a déjà essayé Codex ? En ligne de commande, dans l'éditeur, ou dans ChatGPT ?</a:t>
            </a:r>
          </a:p>
          <a:p/>
          <a:p>
            <a:r>
              <a:t>Source : plan/programme-GHCG.md (page PLB), P3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Pour votre dernière tâche, lequel des trois aurait vu tout ce dont il avait besoin ?</a:t>
            </a:r>
          </a:p>
          <a:p/>
          <a:p>
            <a:r>
              <a:t>Source : documentation VS Code, Context (https://code.visualstudio.com/docs/agents/concepts/context), relevé du 09/10/2026 ; documentation Codex, Codex, Available on (https://learn.chatgpt.com/docs/codex), relevé du 09/10/2026 ; documentation Codex, AGENTS.md (https://learn.chatgpt.com/docs/agent-configuration/agents-md),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Votre entreprise a-t-elle une offre ChatGPT Business ou Enterprise ? Codex y est-il activé ?</a:t>
            </a:r>
          </a:p>
          <a:p/>
          <a:p>
            <a:r>
              <a:t>Source : documentation Codex, Codex, Available on (https://learn.chatgpt.com/docs/codex), relevé du 09/10/2026 ; documentation Codex, IDE extension (https://learn.chatgpt.com/docs/codex/ide), relevé du 09/10/2026 ; documentation Codex, Pricing (https://learn.chatgpt.com/docs/pricing),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Sur votre poste, quel mode de permission choisiriez-vous par défaut ? Pourquoi ?</a:t>
            </a:r>
          </a:p>
          <a:p/>
          <a:p>
            <a:r>
              <a:t>Source : documentation Codex, IDE extension (https://learn.chatgpt.com/docs/codex/ide), relevé du 09/10/2026 ; documentation Codex, Use editor context (https://learn.chatgpt.com/docs/prompting), relevé du 09/10/2026 ; documentation Codex, Permission modes (https://learn.chatgpt.com/docs/permission-modes),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commande de votre CI pourrait être confiée à codex exec ? Laquelle ne devrait jamais l'être ?</a:t>
            </a:r>
          </a:p>
          <a:p/>
          <a:p>
            <a:r>
              <a:t>Source : documentation Codex, Codex CLI (https://learn.chatgpt.com/docs/codex/cli), relevé du 09/10/2026 ; documentation Codex, AGENTS.md (https://learn.chatgpt.com/docs/agent-configuration/agents-md),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À votre avis, pourquoi 1.10.0 est-elle classée avant 1.9.0 ?</a:t>
            </a:r>
          </a:p>
          <a:p/>
          <a:p>
            <a:r>
              <a:t>Source : demos/demo3_codex_vscode/deroule.md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Lequel de ces blocs oubliez-vous le plus souvent ?</a:t>
            </a:r>
          </a:p>
          <a:p/>
          <a:p>
            <a:r>
              <a:t>Source : documentation API OpenAI, Prompt engineering (structure, Markdown et XML) (https://developers.openai.com/api/docs/guides/prompt-engineering), relevé du 09/10/2026 ; documentation GitHub Copilot, Prompt engineering (https://docs.github.com/en/copilot/concepts/prompting/prompt-engineering),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 demanderiez-vous de plus pour une revue orientée sécurité ?</a:t>
            </a:r>
          </a:p>
          <a:p/>
          <a:p>
            <a:r>
              <a:t>Source : documentation API OpenAI, Prompt engineering (https://developers.openai.com/api/docs/guides/prompt-engineering), relevé du 09/10/2026 ; demos/demo4_chatgpt_api/prompts.md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 format de sortie de votre quotidien pourriez-vous enseigner par l'exemple ?</a:t>
            </a:r>
          </a:p>
          <a:p/>
          <a:p>
            <a:r>
              <a:t>Source : documentation API OpenAI, Few-shot learning (https://developers.openai.com/api/docs/guides/prompt-engineering),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hypothèse un modèle risque-t-il de faire à votre place sur ce prompt ?</a:t>
            </a:r>
          </a:p>
          <a:p/>
          <a:p>
            <a:r>
              <a:t>Source : documentation GitHub Copilot, Start general, then get specific (https://docs.github.com/en/copilot/concepts/prompting/prompt-engineering), relevé du 09/10/2026 ; documentation API OpenAI, Prompt engineering (https://developers.openai.com/api/docs/guides/prompt-engineering),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 contiennent les fichiers de configuration de votre projet qu'il ne faut jamais coller ?</a:t>
            </a:r>
          </a:p>
          <a:p/>
          <a:p>
            <a:r>
              <a:t>Source : documentation API OpenAI, Prompt engineering (https://developers.openai.com/api/docs/guides/prompt-engineering), relevé du 09/10/2026 ; documentation Codex, Codex CLI, /review (https://learn.chatgpt.com/docs/codex/cli), relevé du 09/10/2026 ; tps/tp3_codex_api/corrige/prompts_types.md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documentation de votre projet est la plus en retard sur le code ?</a:t>
            </a:r>
          </a:p>
          <a:p/>
          <a:p>
            <a:r>
              <a:t>Source : documentation API OpenAI, Prompt engineering (https://developers.openai.com/api/docs/guides/prompt-engineering), relevé du 09/10/2026 ; demos/demo4_chatgpt_api/final/import_contacts.py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information manque le plus souvent dans les tickets de bug de votre équipe ?</a:t>
            </a:r>
          </a:p>
          <a:p/>
          <a:p>
            <a:r>
              <a:t>Source : documentation VS Code, Fix a Bug (https://code.visualstudio.com/docs/agents/guides/fix-a-bug-with-agents), relevé du 09/10/2026 ; demos/demo4_chatgpt_api/prompts.md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est la plus belle invention d'un modèle que vous ayez vue ?</a:t>
            </a:r>
          </a:p>
          <a:p/>
          <a:p>
            <a:r>
              <a:t>Source : documentation VS Code, How Models Work (https://code.visualstudio.com/docs/agents/concepts/language-models), relevé du 09/10/2026 ; documentation GitHub Copilot, Check Copilot's work (https://docs.github.com/en/copilot/get-started/best-practices),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Quelles règles faut-il donner pour qu'une priorité soit vérifiable ?</a:t>
            </a:r>
          </a:p>
          <a:p/>
          <a:p>
            <a:r>
              <a:t>Source : documentation API OpenAI, Developer quickstart (https://developers.openai.com/api/docs/quickstart), relevé du 09/10/2026 ; demos/demo4_chatgpt_api/triage_support.py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Combien de tickets et de nouvelles analyses faut-il prévoir par jour ?</a:t>
            </a:r>
          </a:p>
          <a:p/>
          <a:p>
            <a:r>
              <a:t>Source : documentation API OpenAI, Models (https://developers.openai.com/api/docs/models), relevé du 09/10/2026 ; documentation API OpenAI, Pricing, standard tier, short context (https://developers.openai.com/api/docs/pricing), relevé du 09/10/2026 ; https://developers.openai.com/api/docs/models/gpt-6-luna, vérifié le 23/10/2026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Comment vérifier une priorité proposée sans se fier à l'assurance du modèle ?</a:t>
            </a:r>
          </a:p>
          <a:p/>
          <a:p>
            <a:r>
              <a:t>Source : documentation API OpenAI, Structured Outputs (https://developers.openai.com/api/docs/guides/structured-outputs), relevé du 09/10/2026; vérifié le 23/10/2026 ; demos/demo4_chatgpt_api/triage_support.py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Qui gère les clés d'API dans votre entreprise aujourd'hui ?</a:t>
            </a:r>
          </a:p>
          <a:p/>
          <a:p>
            <a:r>
              <a:t>Source : documentation API OpenAI, Data controls in the OpenAI platform (https://developers.openai.com/api/docs/guides/your-data), relevé du 09/10/2026 ; documentation API OpenAI, Spend limits, Enforce a hard limit, vérifié le 22/10/2026 (https://developers.openai.com/api/docs/guides/spend-limits), relevé du 09/10/2026 ; documentation API OpenAI, Developer quickstart (https://developers.openai.com/api/docs/quickstart),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 prompt de cette partie allez-vous garder comme modèle ?</a:t>
            </a:r>
          </a:p>
          <a:p/>
          <a:p>
            <a:r>
              <a:t>Source : plan/programme-GHCG.md (page PLB), P3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Combien de problèmes pensez-vous trouver dans un script de 25 lignes ?</a:t>
            </a:r>
          </a:p>
          <a:p/>
          <a:p>
            <a:r>
              <a:t>Source : demos/demo4_chatgpt_api/deroule.md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différence entre demander à Codex de développer et appeler l'API depuis l'application ?</a:t>
            </a:r>
          </a:p>
          <a:p/>
          <a:p>
            <a:r>
              <a:t>Source : tps/tp3_codex_api/enonce.md ; https://learn.chatgpt.com/docs/codex/ide ; https://learn.chatgpt.com/docs/permission-modes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tâche récurrente de votre équipe aimeriez-vous ne plus jamais faire à la main ?</a:t>
            </a:r>
          </a:p>
          <a:p/>
          <a:p>
            <a:r>
              <a:t>Source : plan/programme-GHCG.md (page PLB), 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Lequel de ces contrôles serait le plus tentant de sauter ? Pourquoi ne faut-il pas ?</a:t>
            </a:r>
          </a:p>
          <a:p/>
          <a:p>
            <a:r>
              <a:t>Source : demos/demo5_projet_combine/deroule.md ; documentation VS Code, Add a Feature (https://code.visualstudio.com/docs/agents/guides/add-a-feature),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Votre tâche récurrente relève de quel niveau ?</a:t>
            </a:r>
          </a:p>
          <a:p/>
          <a:p>
            <a:r>
              <a:t>Source : documentation VS Code, Prompt Files (https://code.visualstudio.com/docs/agent-customization/prompt-files), relevé du 09/10/2026 ; documentation VS Code, Batch repetitive work (https://code.visualstudio.com/docs/agents/guides/optimize-usage), relevé du 09/10/2026 ; documentation Codex, Codex CLI, codex exec (https://learn.chatgpt.com/docs/codex/cli), relevé du 09/10/2026 ; documentation Codex, API key for CI (https://learn.chatgpt.com/docs/pricing),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liste de contrôle de votre équipe pourrait devenir un fichier de prompt ?</a:t>
            </a:r>
          </a:p>
          <a:p/>
          <a:p>
            <a:r>
              <a:t>Source : documentation VS Code, Prompt Files (https://code.visualstudio.com/docs/agent-customization/prompt-files), relevé du 09/10/2026; vérifié le 22/10/2026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Votre entreprise autorise-t-elle plusieurs fournisseurs d'IA sur le même poste ?</a:t>
            </a:r>
          </a:p>
          <a:p/>
          <a:p>
            <a:r>
              <a:t>Source : documentation VS Code, Choose an Agent Harness, Codex (https://code.visualstudio.com/docs/agents/run/agent-harnesses), relevé du 09/10/2026 ; documentation Codex, IDE extension (https://learn.chatgpt.com/docs/codex/ide),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 mesureriez-vous en premier dans votre équipe ?</a:t>
            </a:r>
          </a:p>
          <a:p/>
          <a:p>
            <a:r>
              <a:t>Source : documentation GitHub Copilot, Best practices (https://docs.github.com/en/copilot/get-started/best-practices), relevé du 09/10/2026 ; documentation VS Code, Monitoring (https://code.visualstudio.com/docs/agents/guides/optimize-usage),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 fichier de votre dépôt un attaquant pourrait-il modifier pour piéger un agent ?</a:t>
            </a:r>
          </a:p>
          <a:p/>
          <a:p>
            <a:r>
              <a:t>Source : documentation VS Code, AI Security (https://code.visualstudio.com/docs/agents/run/security), relevé du 09/10/2026 ; documentation GitHub Copilot, Risks and mitigations (https://docs.github.com/en/copilot/concepts/security-governance-and-network-settings/risks-and-mitigations),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Vos dépôts contiennent-ils des fichiers .env ? Sont-ils exclus du contrôle de version ?</a:t>
            </a:r>
          </a:p>
          <a:p/>
          <a:p>
            <a:r>
              <a:t>Source : documentation VS Code, AI Security, recommendations (https://code.visualstudio.com/docs/agents/run/security),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Connaissez-vous la politique de votre entreprise sur ces outils ?</a:t>
            </a:r>
          </a:p>
          <a:p/>
          <a:p>
            <a:r>
              <a:t>Source : documentation GitHub, Content exclusion (https://docs.github.com/en/copilot/concepts/security-governance-and-network-settings/content-exclusion), vérifié le 22/10/2026 ; centre d'aide OpenAI, Temporary chat in ChatGPT (https://help.openai.com/en/articles/8914046-temporary-chat-in-chatgpt), vérifié le 22/10/2026 ; documentation VS Code, Set Up GitHub Copilot, data handling (https://code.visualstudio.com/docs/setup/copilot), relevé du 09/10/2026 ; documentation GitHub Copilot, Plans, content exclusion, public code (https://docs.github.com/en/copilot/get-started/plans), relevé du 09/10/2026 ; centre d'aide OpenAI, Data controls in ChatGPT (https://help.openai.com/en/articles/7730893-data-controls-in-chatgpt), relevé du 09/10/2026 ; documentation API OpenAI, Your data (https://developers.openai.com/api/docs/guides/your-data),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Faut-il indiquer dans un commit qu'il a été écrit avec l'IA ? Qu'en pense votre équipe ?</a:t>
            </a:r>
          </a:p>
          <a:p/>
          <a:p>
            <a:r>
              <a:t>Source : documentation GitHub Copilot, Block suggestions matching public code (https://docs.github.com/en/copilot/get-started/plans), relevé du 09/10/2026 ; documentation GitHub Copilot, Commits co-authored (https://docs.github.com/en/copilot/concepts/security-governance-and-network-settings/risks-and-mitigations), relevé du 09/10/2026 ; documentation GitHub Copilot, you are in charge (https://docs.github.com/en/copilot/get-started/best-practices),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règle ajouteriez-vous ?</a:t>
            </a:r>
          </a:p>
          <a:p/>
          <a:p>
            <a:r>
              <a:t>Source : documentation VS Code, AI Security (https://code.visualstudio.com/docs/agents/run/security), relevé du 09/10/2026 ; documentation GitHub Copilot, Check Copilot's work (https://docs.github.com/en/copilot/get-started/best-practices),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Combien de temps faudrait-il pour écrire cet outil à la main ?</a:t>
            </a:r>
          </a:p>
          <a:p/>
          <a:p>
            <a:r>
              <a:t>Source : demos/demo5_projet_combine/deroule.md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sortie allez-vous contrôler avant de garder le code généré ?</a:t>
            </a:r>
          </a:p>
          <a:p/>
          <a:p>
            <a:r>
              <a:t>Source : tps/tp4_projet_complet/enonce.md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Quelle partie de cette démarche pouvez-vous reprendre lundi ?</a:t>
            </a:r>
          </a:p>
          <a:p/>
          <a:p>
            <a:r>
              <a:t>Source : plan/programme-GHCG.md (page PLB), 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Qui commence ?</a:t>
            </a:r>
          </a:p>
          <a:p/>
          <a:p>
            <a:r>
              <a:t>Source : tps/tp4_projet_complet/charte_ia_modele.md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Une dernière question sur la journée ?</a:t>
            </a:r>
          </a:p>
          <a:p/>
          <a:p>
            <a:r>
              <a:t>Source : documentation API OpenAI, Your data (https://developers.openai.com/api/docs/guides/your-data), relevé du 09/10/2026 ; documentation VS Code, Test with Copilot (https://code.visualstudio.com/docs/copilot/guides/test-with-copilot),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Qu'allez-vous changer dès lundi dans votre façon de travailler ?</a:t>
            </a:r>
          </a:p>
          <a:p/>
          <a:p>
            <a:r>
              <a:t>Source : plan/programme-GHCG.md (page PLB)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Quel lien allez-vous ouvrir en premier ?</a:t>
            </a:r>
          </a:p>
          <a:p/>
          <a:p>
            <a:r>
              <a:t>Source : documentation VS Code, Agents Quickstart (https://code.visualstudio.com/docs/agents/quickstart), relevé du 09/10/2026 ; documentation GitHub Copilot, accueil (https://docs.github.com/en/copilot/), relevé du 09/10/2026 ; documentation API OpenAI, accueil (https://developers.openai.com/api/docs/), relevé du 09/10/2026 ; centre d'aide OpenAI, Data controls in ChatGPT (https://help.openai.com/en/articles/7730893-data-controls-in-chatgpt), relevé du 09/10/2026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au groupe : Un dernier mot pour le tour de table de clôture ?</a:t>
            </a:r>
          </a:p>
          <a:p/>
          <a:p>
            <a:r>
              <a:t>Source : plan/programme-GHCG.md (page PLB)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7.svg"/><Relationship Id="rId6" Type="http://schemas.openxmlformats.org/officeDocument/2006/relationships/image" Target="../media/image1.png"/><Relationship Id="rId7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7.svg"/><Relationship Id="rId6" Type="http://schemas.openxmlformats.org/officeDocument/2006/relationships/image" Target="../media/image1.png"/><Relationship Id="rId7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svg"/><Relationship Id="rId12" Type="http://schemas.openxmlformats.org/officeDocument/2006/relationships/image" Target="../media/image14.png"/><Relationship Id="rId13" Type="http://schemas.openxmlformats.org/officeDocument/2006/relationships/image" Target="../media/image15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8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16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0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4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4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3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85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328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8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5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8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97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7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8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7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6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B0ADC593-EA98-4C39-A75F-3F3A9C691019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09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0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76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0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3/15/2025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8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3/15/2025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1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3/15/2025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00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3/15/2025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168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9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3/15/2025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12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ADC8C146-0A20-4029-98D5-9A42EEDF8B24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7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12A2F-57DF-45DA-A7E9-678FD33267B9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12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10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766791B-F730-470C-BD5E-FFF8D449589F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6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E73FE0C-303A-49D2-B22C-9FE8AE7D9EF1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931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73859A7-84EB-4384-87AF-59CC16704CF8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86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5AD3D17-73C9-402C-91E7-BA73E6829C50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3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7A7CDD-9512-40CC-9351-FC0DE186CFBD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34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483EFCC7-B7E8-4ABE-BBCB-C75FD27800CD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9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F140A1F3-DA5D-4F2E-B759-748FF8D0ACA9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130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01B1322-4C31-4D1F-88B1-5F79F56892AE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26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507735E4-737B-43D4-B991-92C3D63DE68F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2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D63035D-22A0-4334-A9AE-2457016C8B47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29247CA6-BC1D-429A-A289-4E939E49554A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7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F8418BD-2BA9-41CB-AB89-625779A7563D}" type="datetime1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424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3/15/2025</a:t>
            </a:fld>
            <a:endParaRPr lang="en-US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3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82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458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5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4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65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75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18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39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42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02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8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FF128-BAC7-4E0D-8F77-28A571D93B6F}" type="datetime1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6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12DB3EA1-DD0C-4B8D-8364-52024B4530F1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604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D157344-9CC7-412D-8C20-072BE86D5A11}" type="datetime1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4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157987AA-E4E6-4FC1-BAD8-09A952212C58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74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043CF65F-0E21-48DE-8D75-4BF66A547E8E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4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13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4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675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8" r:id="rId8"/>
    <p:sldLayoutId id="2147483739" r:id="rId9"/>
    <p:sldLayoutId id="2147483740" r:id="rId10"/>
    <p:sldLayoutId id="2147483759" r:id="rId11"/>
    <p:sldLayoutId id="2147483685" r:id="rId12"/>
    <p:sldLayoutId id="2147483686" r:id="rId13"/>
    <p:sldLayoutId id="2147483746" r:id="rId14"/>
    <p:sldLayoutId id="2147483747" r:id="rId15"/>
    <p:sldLayoutId id="2147483748" r:id="rId16"/>
    <p:sldLayoutId id="2147483750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35" r:id="rId37"/>
    <p:sldLayoutId id="2147483736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43" r:id="rId46"/>
    <p:sldLayoutId id="2147483758" r:id="rId47"/>
    <p:sldLayoutId id="2147483745" r:id="rId48"/>
    <p:sldLayoutId id="2147483751" r:id="rId49"/>
    <p:sldLayoutId id="2147483757" r:id="rId50"/>
    <p:sldLayoutId id="2147483753" r:id="rId51"/>
    <p:sldLayoutId id="2147483754" r:id="rId52"/>
    <p:sldLayoutId id="2147483755" r:id="rId53"/>
    <p:sldLayoutId id="2147483742" r:id="rId54"/>
    <p:sldLayoutId id="2147483752" r:id="rId55"/>
    <p:sldLayoutId id="2147483756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6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7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7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7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7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7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7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GitHub Copilot et ChatGPT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L'IA générative au service du développement logiciel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400">
                <a:solidFill>
                  <a:srgbClr val="FFFFFF"/>
                </a:solidFill>
              </a:rPr>
              <a:t>Formation PLB, réf. GHCG</a:t>
            </a:r>
          </a:p>
        </p:txBody>
      </p:sp>
      <p:pic>
        <p:nvPicPr>
          <p:cNvPr id="5" name="Picture 4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"/>
            <a:ext cx="1066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La journée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Découvrir et installer Copilot et ChatGPT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02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Copilot avancé : complétion, bugs, tests, refactoring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ChatGPT et Codex pour développer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04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L'API OpenAI dans vos scripts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Combiner les deux outils sur un projet complet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Sécurité, confidentialité, charte d'usage</a:t>
            </a:r>
          </a:p>
        </p:txBody>
      </p:sp>
      <p:pic>
        <p:nvPicPr>
          <p:cNvPr id="15" name="Picture 1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Près de 4 h 15 de pratique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E8A4F"/>
                </a:solidFill>
              </a:rPr>
              <a:t>Matin : GitHub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402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Découvrir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9h00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78023" y="2697480"/>
            <a:ext cx="320041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43784" y="22402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TP1</a:t>
            </a:r>
          </a:p>
          <a:p>
            <a:pPr algn="ctr"/>
            <a:r>
              <a:rPr sz="1600" b="1">
                <a:solidFill>
                  <a:srgbClr val="002060"/>
                </a:solidFill>
              </a:rPr>
              <a:t>9h45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73167" y="269748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38927" y="22402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Copilot avancé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10h10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68311" y="269748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34071" y="22402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TP2</a:t>
            </a:r>
          </a:p>
          <a:p>
            <a:pPr algn="ctr"/>
            <a:r>
              <a:rPr sz="1600" b="1">
                <a:solidFill>
                  <a:srgbClr val="002060"/>
                </a:solidFill>
              </a:rPr>
              <a:t>11h15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63456" y="2697480"/>
            <a:ext cx="320039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29215" y="22402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Récap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12h20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E8A4F"/>
                </a:solidFill>
              </a:rPr>
              <a:t>Après-midi : ChatGPT, Codex, API, combinaison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ChatGPT et Codex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13h30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78023" y="4526280"/>
            <a:ext cx="320041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43784" y="40690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TP3</a:t>
            </a:r>
          </a:p>
          <a:p>
            <a:pPr algn="ctr"/>
            <a:r>
              <a:rPr sz="1600" b="1">
                <a:solidFill>
                  <a:srgbClr val="002060"/>
                </a:solidFill>
              </a:rPr>
              <a:t>14h15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73167" y="452628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38927" y="40690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Combiner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15h20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68311" y="452628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34071" y="40690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TP4</a:t>
            </a:r>
          </a:p>
          <a:p>
            <a:pPr algn="ctr"/>
            <a:r>
              <a:rPr sz="1600" b="1">
                <a:solidFill>
                  <a:srgbClr val="002060"/>
                </a:solidFill>
              </a:rPr>
              <a:t>15h40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63456" y="4526280"/>
            <a:ext cx="320039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29215" y="4069080"/>
            <a:ext cx="1883663" cy="9144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Bilan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16h40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674DC"/>
                </a:solidFill>
              </a:rPr>
              <a:t>Concepts 90 min | Démos 55 min | TP 200 min | Bilan 30 min | Marge 15 min</a:t>
            </a:r>
          </a:p>
        </p:txBody>
      </p:sp>
      <p:pic>
        <p:nvPicPr>
          <p:cNvPr id="24" name="Picture 23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Votre environnement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VS Code récent et GitHub Copilot</a:t>
            </a:r>
          </a:p>
          <a:p>
            <a:pPr marL="594359" indent="-274320">
              <a:spcAft>
                <a:spcPts val="1000"/>
              </a:spcAft>
              <a:buClr>
                <a:srgbClr val="0E8A4F"/>
              </a:buClr>
              <a:buChar char="–"/>
            </a:pPr>
            <a:r>
              <a:rPr sz="1700">
                <a:solidFill>
                  <a:srgbClr val="0C1A37"/>
                </a:solidFill>
              </a:rPr>
              <a:t>Compte GitHub : licence entreprise, sinon Copilot Free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Un compte ChatGPT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Python 3.12 ou plus, uv, pytest, Git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L'après-midi : une clé d'API OpenAI</a:t>
            </a:r>
          </a:p>
          <a:p>
            <a:pPr marL="594359" indent="-274320">
              <a:spcAft>
                <a:spcPts val="1000"/>
              </a:spcAft>
              <a:buClr>
                <a:srgbClr val="0E8A4F"/>
              </a:buClr>
              <a:buChar char="–"/>
            </a:pPr>
            <a:r>
              <a:rPr sz="1700">
                <a:solidFill>
                  <a:srgbClr val="0C1A37"/>
                </a:solidFill>
              </a:rPr>
              <a:t>Fournie par le formateur, révoquée ce soir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32120" y="1737360"/>
            <a:ext cx="6080760" cy="182880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700" i="0" b="0">
                <a:solidFill>
                  <a:srgbClr val="9CC7F5"/>
                </a:solidFill>
                <a:latin typeface="Courier New"/>
              </a:rPr>
              <a:t># à la racine du dépôt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uv sync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uv run pytest tps/tp1_environnement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3931920"/>
            <a:ext cx="6080760" cy="13716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0">
                <a:solidFill>
                  <a:srgbClr val="FFFFFF"/>
                </a:solidFill>
              </a:rPr>
              <a:t>Un dossier par démo et par TP,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à ouvrir seul dans VS Code :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demos/demoN_... et tps/tpN_...</a:t>
            </a:r>
          </a:p>
        </p:txBody>
      </p:sp>
      <p:pic>
        <p:nvPicPr>
          <p:cNvPr id="6" name="Picture 5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Découvrir GitHub Copilot et ChatGPT</a:t>
            </a:r>
          </a:p>
        </p:txBody>
      </p:sp>
      <p:pic>
        <p:nvPicPr>
          <p:cNvPr id="3" name="Picture 2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"/>
            <a:ext cx="1066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Un LLM génère du texte probable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2457450" cy="105156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Votre demande et son contexte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51810" y="23088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17570" y="1783080"/>
            <a:ext cx="2457450" cy="105156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Découpage en jetons (tokens)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20740" y="23088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86500" y="1783080"/>
            <a:ext cx="2457450" cy="105156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Modèle de langage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89670" y="23088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55430" y="1783080"/>
            <a:ext cx="2457450" cy="105156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Réponse générée, jeton par jeton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2060"/>
                </a:solidFill>
              </a:rPr>
              <a:t>Probabiliste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35204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0C1A37"/>
                </a:solidFill>
              </a:rPr>
              <a:t>La même demande peut donner deux réponses différentes.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32918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2060"/>
                </a:solidFill>
              </a:rPr>
              <a:t>Daté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4069080"/>
            <a:ext cx="35204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0C1A37"/>
                </a:solidFill>
              </a:rPr>
              <a:t>Entraîné jusqu'à une date : versions récentes parfois inconnues.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32918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2060"/>
                </a:solidFill>
              </a:rPr>
              <a:t>Plausible n'est pas juste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069080"/>
            <a:ext cx="35204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0C1A37"/>
                </a:solidFill>
              </a:rPr>
              <a:t>Une réponse fluide peut être fausse : on vérifie.</a:t>
            </a:r>
          </a:p>
        </p:txBody>
      </p:sp>
      <p:pic>
        <p:nvPicPr>
          <p:cNvPr id="16" name="Picture 15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La fenêtre de contexte : ce que le modèle voit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67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10512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74DC"/>
                </a:solidFill>
              </a:rPr>
              <a:t>Fenêtre de contexte (limitée, en jetons)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4572000" cy="566928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FFFFFF"/>
                </a:solidFill>
              </a:rPr>
              <a:t>Instructions système et du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35808"/>
            <a:ext cx="4572000" cy="566928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FFFFFF"/>
                </a:solidFill>
              </a:rPr>
              <a:t>Historique de la conversation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39896"/>
            <a:ext cx="4572000" cy="566928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FFFFFF"/>
                </a:solidFill>
              </a:rPr>
              <a:t>Fichier actif, sélection, références #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43983"/>
            <a:ext cx="4572000" cy="566928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FFFFFF"/>
                </a:solidFill>
              </a:rPr>
              <a:t>Résultats des outils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48072"/>
            <a:ext cx="4572000" cy="566928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2060"/>
                </a:solidFill>
              </a:rPr>
              <a:t>Votre message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0" y="3840480"/>
            <a:ext cx="5486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55080" y="338328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92024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Vérifier ce que l’outil joint à la demande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Trop de contexte inutile dilue la demande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Conversation longue : anciens échanges résumés</a:t>
            </a:r>
          </a:p>
        </p:txBody>
      </p:sp>
      <p:pic>
        <p:nvPicPr>
          <p:cNvPr id="13" name="Picture 12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Points forts et limites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0C1A37"/>
                </a:solidFill>
              </a:rPr>
              <a:t>Ce qui marche bien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800">
                <a:solidFill>
                  <a:srgbClr val="0C1A37"/>
                </a:solidFill>
              </a:rPr>
              <a:t>Ce qui demande votre vigilance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Code répétitif, squelettes, expressions régulières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Tests unitaires et explications de code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Erreurs de syntaxe et bugs simples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8346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Réponses plausibles mais fausses ou datées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Failles, secrets, code sous licence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Votre expertise reste indispensable</a:t>
            </a:r>
          </a:p>
        </p:txBody>
      </p:sp>
      <p:pic>
        <p:nvPicPr>
          <p:cNvPr id="8" name="Picture 7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3" grpId="0" animBg="1"/>
      <p:bldP spid="5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GitHub Copilot : quatre façons de travailler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Complétions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Texte grisé en tapant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Suite d'une modification (NES)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79" y="173736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Inline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79" y="2606040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Cmd+I / Ctrl+I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Modifier le code sélectionné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19" y="173736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Chat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9" y="2606040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Ask : questions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Plan : une démarche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Agent : modifie et teste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173736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Hors de l'IDE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2606040"/>
            <a:ext cx="2560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Copilot CLI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Agent cloud : pull 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257800"/>
            <a:ext cx="11064240" cy="0"/>
          </a:xfrm>
          <a:prstGeom prst="line">
            <a:avLst/>
          </a:prstGeom>
          <a:ln w="38100">
            <a:solidFill>
              <a:srgbClr val="0E8A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E8A4F"/>
                </a:solidFill>
              </a:rPr>
              <a:t>Plus d'autonomie, donc plus de vérification</a:t>
            </a:r>
          </a:p>
        </p:txBody>
      </p:sp>
      <p:pic>
        <p:nvPicPr>
          <p:cNvPr id="13" name="Picture 12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8" grpId="0" build="p"/>
      <p:bldP spid="10" grpId="0" build="p"/>
      <p:bldP spid="3" grpId="0" animBg="1"/>
      <p:bldP spid="5" grpId="0" animBg="1"/>
      <p:bldP spid="7" grpId="0" animBg="1"/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Les offres GitHub Copilot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1737360"/>
                <a:gridCol w="1737360"/>
                <a:gridCol w="2651760"/>
                <a:gridCol w="32918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Offre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Prix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Complétions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Chat et agents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À noter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Free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0 $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2 000 / mois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Allocation limitée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Modèle choisi automatiquement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Pro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10 $ / mois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Illimitées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1 500 crédits IA / mois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Agent cloud, revue de code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Business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19 $ / siège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Illimitées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1 900 crédits IA / mois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Politiques, exclusion de contenu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Enterprise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39 $ / siège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Illimitées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3 900 crédits IA / mois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Fonctions entreprise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674DC"/>
                </a:solidFill>
              </a:rPr>
              <a:t>Existent aussi : Student, Pro+ (39 $), Max (100 $). Prix relevés le 09/10/2026, à revérifier avant de décider.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3" grpId="0">
        <p:bldAsOne/>
      </p:bldGraphic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ChatGPT et l’API OpenAI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394960" cy="73152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FFFFFF"/>
                </a:solidFill>
              </a:rPr>
              <a:t>Interface web : chatgpt.com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Conversation, fichiers joints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Chat temporaire : hors historique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Offres gratuite, individuelles, entreprise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5394960" cy="73152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FFFFFF"/>
                </a:solidFill>
              </a:rPr>
              <a:t>API : developers.openai.com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7432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Appels depuis vos programmes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Une clé, une facturation au jeton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gpt-6-astra, gpt-6.1-sol, gpt-6-luna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E8A4F"/>
                </a:solidFill>
              </a:rPr>
              <a:t>L’abonnement ChatGPT et les appels API sont facturés séparément.</a:t>
            </a:r>
          </a:p>
        </p:txBody>
      </p:sp>
      <p:pic>
        <p:nvPicPr>
          <p:cNvPr id="8" name="Picture 7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3" grpId="0" animBg="1"/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Installer Copilot dans VS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 sz="1200">
                <a:solidFill>
                  <a:srgbClr val="0C1A37"/>
                </a:solidFill>
              </a:rPr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Activer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Icône Copilot de la barre d'état, puis Use AI Features.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200">
                <a:solidFill>
                  <a:srgbClr val="0C1A37"/>
                </a:solidFill>
              </a:rP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Se connecter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Compte GitHub : licence de l'entreprise, sinon Copilot Free.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sz="1200">
                <a:solidFill>
                  <a:srgbClr val="0C1A37"/>
                </a:solidFill>
              </a:rP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Vérifier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Tableau de bord Copilot : part de l'allocation déjà utilisée.</a:t>
            </a:r>
          </a:p>
        </p:txBody>
      </p:sp>
      <p:pic>
        <p:nvPicPr>
          <p:cNvPr id="12" name="Picture 11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Accepter une suggestion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def celsius_vers_fahrenheit(celsius: float) -&gt; float: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"""Convertit une température de degrés Celsius en degrés Fahrenheit."""</a:t>
            </a:r>
          </a:p>
          <a:p>
            <a:pPr algn="l"/>
            <a:r>
              <a:rPr sz="1700" i="1" b="0">
                <a:solidFill>
                  <a:srgbClr val="8A93A6"/>
                </a:solidFill>
                <a:latin typeface="Courier New"/>
              </a:rPr>
              <a:t>    return celsius * 9 / 5 + 32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429000"/>
          <a:ext cx="11064240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83280"/>
                <a:gridCol w="3840480"/>
                <a:gridCol w="3840480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macOS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Windows / Linux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Accepter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Tab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Tab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Refuser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Échap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Échap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Accepter mot par mot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Cmd + Flèche droite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Ctrl + Flèche droite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Voir d'autres propositions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Survoler la suggestion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Survoler la suggestion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Demander une suggestion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Palette : Trigger Inline Suggestion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Palette : Trigger Inline Suggestion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4" grpId="0">
        <p:bldAsOne/>
      </p:bldGraphic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Démo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Démo 1 : installer Copilot, premières complétions, même question dans ChatGPT</a:t>
            </a:r>
          </a:p>
          <a:p>
            <a:r>
              <a:rPr sz="2000">
                <a:solidFill>
                  <a:srgbClr val="FFFFFF"/>
                </a:solidFill>
              </a:rPr>
              <a:t>demos/demo1_premiers_pas/</a:t>
            </a:r>
          </a:p>
          <a:p>
            <a:r>
              <a:rPr sz="2000">
                <a:solidFill>
                  <a:srgbClr val="FFFFFF"/>
                </a:solidFill>
              </a:rPr>
              <a:t>Durée : 10 min</a:t>
            </a:r>
          </a:p>
        </p:txBody>
      </p:sp>
      <p:pic>
        <p:nvPicPr>
          <p:cNvPr id="4" name="Picture 3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TP1 : environnement et premières complétions</a:t>
            </a:r>
          </a:p>
          <a:p>
            <a:r>
              <a:rPr sz="2000">
                <a:solidFill>
                  <a:srgbClr val="FFFFFF"/>
                </a:solidFill>
              </a:rPr>
              <a:t>tps/tp1_environnement/</a:t>
            </a:r>
          </a:p>
          <a:p>
            <a:r>
              <a:rPr sz="2000">
                <a:solidFill>
                  <a:srgbClr val="FFFFFF"/>
                </a:solidFill>
              </a:rPr>
              <a:t>Durée : 25 min</a:t>
            </a:r>
          </a:p>
        </p:txBody>
      </p:sp>
      <p:pic>
        <p:nvPicPr>
          <p:cNvPr id="4" name="Picture 3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À retenir : premières complétions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Donner le contexte utile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Nom, docstring, exemple et fichiers pertinents.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Garder ce qu’on comprend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Relire la proposition avant de l’accepter.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Vérifier le comportement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Lancer les tests, y compris aux limites.</a:t>
            </a:r>
          </a:p>
        </p:txBody>
      </p:sp>
      <p:pic>
        <p:nvPicPr>
          <p:cNvPr id="9" name="Picture 8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Utiliser Copilot efficacement</a:t>
            </a:r>
          </a:p>
        </p:txBody>
      </p:sp>
      <p:pic>
        <p:nvPicPr>
          <p:cNvPr id="3" name="Picture 2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Ce que Copilot lit pour suggérer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09160" y="324612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002060"/>
                </a:solidFill>
              </a:rPr>
              <a:t>Suggestion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Le fichier en cours, autour du curseur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2514600"/>
            <a:ext cx="1051560" cy="73152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503920" y="178308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Les autres fichiers ouverts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7452360" y="2514600"/>
            <a:ext cx="1051560" cy="73152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457200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Noms, signatures, types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657600" y="4251960"/>
            <a:ext cx="1051560" cy="68580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03920" y="457200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Commentaires et docstrings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7452360" y="4251960"/>
            <a:ext cx="1051560" cy="68580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900" b="1">
                <a:solidFill>
                  <a:srgbClr val="0E8A4F"/>
                </a:solidFill>
              </a:rPr>
              <a:t>Ouvrez les fichiers utiles, fermez les autres.</a:t>
            </a:r>
          </a:p>
        </p:txBody>
      </p:sp>
      <p:pic>
        <p:nvPicPr>
          <p:cNvPr id="13" name="Picture 12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Guider la complétion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8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Un nom explicite et des types</a:t>
            </a:r>
          </a:p>
          <a:p>
            <a:pPr marL="274320" indent="-274320">
              <a:spcAft>
                <a:spcPts val="18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Une docstring avec un exemple</a:t>
            </a:r>
          </a:p>
          <a:p>
            <a:pPr marL="274320" indent="-274320">
              <a:spcAft>
                <a:spcPts val="18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Un commentaire qui donne l'algorithme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783080"/>
            <a:ext cx="6583680" cy="393192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550" i="0" b="0">
                <a:solidFill>
                  <a:srgbClr val="FFFFFF"/>
                </a:solidFill>
                <a:latin typeface="Courier New"/>
              </a:rPr>
              <a:t>import re</a:t>
            </a:r>
          </a:p>
          <a:p>
            <a:pPr algn="l"/>
            <a:r>
              <a:rPr sz="1550" i="0" b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/>
            <a:r>
              <a:rPr sz="1550" i="0" b="0">
                <a:solidFill>
                  <a:srgbClr val="FFFFFF"/>
                </a:solidFill>
                <a:latin typeface="Courier New"/>
              </a:rPr>
              <a:t>def slugifier(titre: str) -&gt; str:</a:t>
            </a:r>
          </a:p>
          <a:p>
            <a:pPr algn="l"/>
            <a:r>
              <a:rPr sz="1550" i="0" b="0">
                <a:solidFill>
                  <a:srgbClr val="FFFFFF"/>
                </a:solidFill>
                <a:latin typeface="Courier New"/>
              </a:rPr>
              <a:t>    """Titre -&gt; identifiant d'URL.</a:t>
            </a:r>
          </a:p>
          <a:p>
            <a:pPr algn="l"/>
            <a:r>
              <a:rPr sz="1550" i="0" b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/>
            <a:r>
              <a:rPr sz="1550" i="0" b="0">
                <a:solidFill>
                  <a:srgbClr val="FFFFFF"/>
                </a:solidFill>
                <a:latin typeface="Courier New"/>
              </a:rPr>
              <a:t>    &gt;&gt;&gt; slugifier("Copilot &amp; ChatGPT")</a:t>
            </a:r>
          </a:p>
          <a:p>
            <a:pPr algn="l"/>
            <a:r>
              <a:rPr sz="1550" i="0" b="0">
                <a:solidFill>
                  <a:srgbClr val="FFFFFF"/>
                </a:solidFill>
                <a:latin typeface="Courier New"/>
              </a:rPr>
              <a:t>    'copilot-chatgpt'</a:t>
            </a:r>
          </a:p>
          <a:p>
            <a:pPr algn="l"/>
            <a:r>
              <a:rPr sz="1550" i="0" b="0">
                <a:solidFill>
                  <a:srgbClr val="FFFFFF"/>
                </a:solidFill>
                <a:latin typeface="Courier New"/>
              </a:rPr>
              <a:t>    """</a:t>
            </a:r>
          </a:p>
          <a:p>
            <a:pPr algn="l"/>
            <a:r>
              <a:rPr sz="1550" i="1" b="0">
                <a:solidFill>
                  <a:srgbClr val="8A93A6"/>
                </a:solidFill>
                <a:latin typeface="Courier New"/>
              </a:rPr>
              <a:t>    mots = re.findall(r"[a-z0-9]+", titre.lower())</a:t>
            </a:r>
          </a:p>
          <a:p>
            <a:pPr algn="l"/>
            <a:r>
              <a:rPr sz="1550" i="1" b="0">
                <a:solidFill>
                  <a:srgbClr val="8A93A6"/>
                </a:solidFill>
                <a:latin typeface="Courier New"/>
              </a:rPr>
              <a:t>    return "-".join(mots)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Suggérer la prochaine modification (NES)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2457450" cy="11887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Vous modifiez une ligne (un renommage)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51810" y="24231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17570" y="1828800"/>
            <a:ext cx="2457450" cy="118872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Une flèche apparaît dans la marge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20740" y="24231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86500" y="1828800"/>
            <a:ext cx="2457450" cy="118872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Tab : aller à la modification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89670" y="24231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55430" y="1828800"/>
            <a:ext cx="2457450" cy="11887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Tab : l'accepter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1064240" cy="155448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700" i="0" b="0">
                <a:solidFill>
                  <a:srgbClr val="9CC7F5"/>
                </a:solidFill>
                <a:latin typeface="Courier New"/>
              </a:rPr>
              <a:t>// Paramètres utilisateur (JSON)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"github.copilot.nextEditSuggestions.enabled": true,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"github.copilot.nextEditSuggestions.fixes": true</a:t>
            </a:r>
          </a:p>
        </p:txBody>
      </p:sp>
      <p:pic>
        <p:nvPicPr>
          <p:cNvPr id="11" name="Picture 10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Inline chat : modifier sans quitter 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Cmd+I (macOS), Ctrl+I (Windows, Linux)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Une sélection précise la cible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Un diff dans l'éditeur : Keep ou Undo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Commandes : /explain, /fix, /doc, /tests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7830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800">
                <a:solidFill>
                  <a:srgbClr val="0C1A37"/>
                </a:solidFill>
              </a:rPr>
              <a:t>/doc en français, avec les exceptions levées et un exemple d'appel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874519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Inline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52044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800">
                <a:solidFill>
                  <a:srgbClr val="0C1A37"/>
                </a:solidFill>
              </a:rPr>
              <a:t>Ajoute la gestion des espaces et des majuscules, sans changer la signature.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611880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Inline chat</a:t>
            </a:r>
          </a:p>
        </p:txBody>
      </p:sp>
      <p:pic>
        <p:nvPicPr>
          <p:cNvPr id="8" name="Picture 7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La Chat view et ses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3505200" cy="6858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35052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Questions, explications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Comprendre avant d'agir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8160" y="1783080"/>
            <a:ext cx="3505200" cy="6858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8160" y="2651760"/>
            <a:ext cx="35052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Lit le dépôt en lecture seule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Propose un plan à valider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7680" y="1783080"/>
            <a:ext cx="3505200" cy="6858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7680" y="2651760"/>
            <a:ext cx="35052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Modifie les fichiers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Lance commandes et tests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Boucle jusqu'au résultat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0">
                <a:solidFill>
                  <a:srgbClr val="FFFFFF"/>
                </a:solidFill>
              </a:rPr>
              <a:t>Zone de saisie : Session Target, Agent, Language model (Auto), Permissions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Ouvrir la Chat view : Ctrl+Cmd+I (macOS), Ctrl+Alt+I (Windows, Linux)</a:t>
            </a:r>
          </a:p>
        </p:txBody>
      </p:sp>
      <p:pic>
        <p:nvPicPr>
          <p:cNvPr id="10" name="Picture 9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8" grpId="0" build="p"/>
      <p:bldP spid="3" grpId="0" animBg="1"/>
      <p:bldP spid="5" grpId="0" animBg="1"/>
      <p:bldP spid="7" grpId="0" animBg="1"/>
      <p:bldP spid="9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Donner le bon contexte au chat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694944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Référence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Ce qu'elle ajoute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#fichier, #dossier, #symbole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Un élément choisi dans la liste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#selection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La sélection de l'éditeur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#search/codebase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Le code pertinent du dépôt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#read/problems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Les erreurs du panneau Problems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#execute/testFailure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Les tests en échec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#read/terminalLastCommand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La dernière commande et sa sortie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#web/fetch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Une page web (documentation)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7830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@vscode, @terminal, @github : assistants spécialisés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Images et glisser-déposer acceptés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Ajouter seulement ce qui sert la tâche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Graphic spid="3" grpId="0">
        <p:bldAsOne/>
      </p:bldGraphic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AGENTS.md : le prompt permanent du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92608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02060"/>
                </a:solidFill>
              </a:rPr>
              <a:t>AGENTS.md</a:t>
            </a:r>
          </a:p>
          <a:p>
            <a:pPr algn="ctr"/>
            <a:r>
              <a:rPr sz="1700" b="1">
                <a:solidFill>
                  <a:srgbClr val="002060"/>
                </a:solidFill>
              </a:rPr>
              <a:t>à la racine du dépôt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3337560" y="2240280"/>
            <a:ext cx="640079" cy="137160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023360" y="17830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Copilot : chat et agents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337560" y="3566160"/>
            <a:ext cx="640079" cy="4572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023360" y="31089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OpenAI Codex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3611880"/>
            <a:ext cx="640079" cy="128016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23360" y="44348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Autres agents 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Un README pour les agents : Markdown libre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Lu par le chat et les agents, pas par les complétions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Monorepo : le fichier le plus proche l'emporte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Un prompt explicite reste prioritaire</a:t>
            </a:r>
          </a:p>
        </p:txBody>
      </p:sp>
      <p:pic>
        <p:nvPicPr>
          <p:cNvPr id="11" name="Picture 10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  <p:bldP spid="5" grpId="0" animBg="1"/>
      <p:bldP spid="7" grpId="0" animBg="1"/>
      <p:bldP spid="9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Structurer un AGENTS.md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64240" cy="361188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# AGENTS.md : calcul du panier de commande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## Projet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Python 3.12, bibliothèque standard uniquement. Module : panier.py.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## Commandes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- Tests : uv run pytest -q, après chaque modification.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## Conventions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- Noms en français, snake_case ; docstring sur chaque fonction publique.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- Montants arrondis au centime avec round(x, 2), sur la facture seulement.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## Tests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- Valeurs attendues tirées des docstrings, jamais du code actuel.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- Ne jamais modifier un test existant pour le faire passer.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## Sécurité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- Aucun secret dans le code ni dans les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486400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2060"/>
                </a:solidFill>
              </a:rPr>
              <a:t>Court, une règle par ligne, chaque règle vérifiable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Relire avant de garder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413759" cy="11887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</a:rPr>
              <a:t>L’agent enregistre les fichiers modifiés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008119" y="24231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73879" y="1828800"/>
            <a:ext cx="3413759" cy="118872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</a:rPr>
              <a:t>Keep ou Undo, modification par modification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33360" y="2423160"/>
            <a:ext cx="320039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199119" y="1828800"/>
            <a:ext cx="3413759" cy="118872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</a:rPr>
              <a:t>Restore Checkpoint : revenir avant une requête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02060"/>
                </a:solidFill>
              </a:rPr>
              <a:t>Un checkpoint n'annule pas une commande déjà exécutée, une requête réseau ni un déploiement.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0C1A37"/>
                </a:solidFill>
              </a:rPr>
              <a:t>Indexer un fichier dans Source Control accepte ses modifications en attente ; l'annuler les rejette.</a:t>
            </a:r>
          </a:p>
        </p:txBody>
      </p:sp>
      <p:pic>
        <p:nvPicPr>
          <p:cNvPr id="10" name="Picture 9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Approbations et permissions des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1106424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4754880"/>
                <a:gridCol w="301752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Niveau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Comportement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Quand l'utiliser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Manual permissions (défaut)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Confirmation des actions non approuvées d'avance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Par défaut, et en formation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Assisted permissions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Un modèle juge chaque appel d'outil (expérimental)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À évaluer prudemment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Allow all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Aucune confirmation : fichiers, terminal, outils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Environnement isolé seulement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8A4F"/>
                </a:solidFill>
              </a:rPr>
              <a:t>Autopilot : confirmations contournées ; présentation selon la cible choisie.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Approuver pour la session, plutôt que pour l'espace de travail ou l'utilisateur</a:t>
            </a:r>
          </a:p>
        </p:txBody>
      </p:sp>
      <p:pic>
        <p:nvPicPr>
          <p:cNvPr id="6" name="Picture 5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" grpId="0" animBg="1"/>
      <p:bldGraphic spid="3" grpId="0">
        <p:bldAsOne/>
      </p:bldGraphic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Corriger un bug avec Copilot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3413759" cy="105156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Reproduire : un test ou une commande qui échoue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008119" y="23088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73879" y="1783080"/>
            <a:ext cx="3413759" cy="105156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Décrire : symptôme, attendu, contexte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33360" y="2308860"/>
            <a:ext cx="320039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199119" y="1783080"/>
            <a:ext cx="3413759" cy="105156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Exiger la cause, relire, relancer les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800">
                <a:solidFill>
                  <a:srgbClr val="0C1A37"/>
                </a:solidFill>
              </a:rPr>
              <a:t>Le test test_livraison_offerte_a_partir_de_50_euros de #test_panier.py échoue.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La règle métier est dans la docstring de frais_de_port.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Corrige l'implémentation, pas le test, et explique la cause en une phrase.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8A4F"/>
                </a:solidFill>
              </a:rPr>
              <a:t>Dans Test Explorer : Fix Test Failure sur le test en échec.</a:t>
            </a:r>
          </a:p>
        </p:txBody>
      </p:sp>
      <p:pic>
        <p:nvPicPr>
          <p:cNvPr id="11" name="Picture 10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Générer des tests unitaires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0C1A37"/>
                </a:solidFill>
              </a:rPr>
              <a:t>À demander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800">
                <a:solidFill>
                  <a:srgbClr val="0C1A37"/>
                </a:solidFill>
              </a:rPr>
              <a:t>À refuser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Résultats attendus tirés des exigences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Cas limites listés explicitement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Tests lancés, chacun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8346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Assertions supprimées, tests ignorés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Attendu recalculé par la fonction testée</a:t>
            </a:r>
          </a:p>
          <a:p>
            <a:pPr marL="274320" indent="-274320">
              <a:spcAft>
                <a:spcPts val="10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Test modifié pour passer</a:t>
            </a:r>
          </a:p>
        </p:txBody>
      </p:sp>
      <p:pic>
        <p:nvPicPr>
          <p:cNvPr id="8" name="Picture 7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3" grpId="0" animBg="1"/>
      <p:bldP spid="5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Le piège : un test qui fige le bug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def appliquer_remise(montant, code):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"""Applique le code promo. Lève ValueError si le code est inconnu."""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taux = CODES_PROMO[code]  # lève KeyError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C1A37"/>
                </a:solidFill>
              </a:rPr>
              <a:t>Écrit depuis le code : passe, et fige le 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03320"/>
            <a:ext cx="5394960" cy="146304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600" i="0" b="0">
                <a:solidFill>
                  <a:srgbClr val="FFFFFF"/>
                </a:solidFill>
                <a:latin typeface="Courier New"/>
              </a:rPr>
              <a:t>def test_code_inconnu():</a:t>
            </a:r>
          </a:p>
          <a:p>
            <a:pPr algn="l"/>
            <a:r>
              <a:rPr sz="1600" i="0" b="0">
                <a:solidFill>
                  <a:srgbClr val="FFFFFF"/>
                </a:solidFill>
                <a:latin typeface="Courier New"/>
              </a:rPr>
              <a:t>    with pytest.raises(KeyError):</a:t>
            </a:r>
          </a:p>
          <a:p>
            <a:pPr algn="l"/>
            <a:r>
              <a:rPr sz="1600" i="0" b="0">
                <a:solidFill>
                  <a:srgbClr val="FFFFFF"/>
                </a:solidFill>
                <a:latin typeface="Courier New"/>
              </a:rPr>
              <a:t>        appliquer_remise(100, "NOEL50")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20040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E8A4F"/>
                </a:solidFill>
              </a:rPr>
              <a:t>Écrit depuis l'exigence : échoue, et révèle le bug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03320"/>
            <a:ext cx="5394960" cy="146304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600" i="0" b="0">
                <a:solidFill>
                  <a:srgbClr val="FFFFFF"/>
                </a:solidFill>
                <a:latin typeface="Courier New"/>
              </a:rPr>
              <a:t>def test_code_inconnu():</a:t>
            </a:r>
          </a:p>
          <a:p>
            <a:pPr algn="l"/>
            <a:r>
              <a:rPr sz="1600" i="0" b="0">
                <a:solidFill>
                  <a:srgbClr val="FFFFFF"/>
                </a:solidFill>
                <a:latin typeface="Courier New"/>
              </a:rPr>
              <a:t>    with pytest.raises(ValueError):</a:t>
            </a:r>
          </a:p>
          <a:p>
            <a:pPr algn="l"/>
            <a:r>
              <a:rPr sz="1600" i="0" b="0">
                <a:solidFill>
                  <a:srgbClr val="FFFFFF"/>
                </a:solidFill>
                <a:latin typeface="Courier New"/>
              </a:rPr>
              <a:t>        appliquer_remise(100, "NOEL50")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E8A4F"/>
                </a:solidFill>
              </a:rPr>
              <a:t>La source de vérité est l'exigence écrite, pas le code actuel.</a:t>
            </a:r>
          </a:p>
        </p:txBody>
      </p:sp>
      <p:pic>
        <p:nvPicPr>
          <p:cNvPr id="9" name="Picture 8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Refactoriser sous filet de tests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2457450" cy="13258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Filet : tests verts, caractérisation si besoin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51810" y="249174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17570" y="1828800"/>
            <a:ext cx="2457450" cy="132588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Plan : relire la démarche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20740" y="249174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86500" y="1828800"/>
            <a:ext cx="2457450" cy="13258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Agent : petites étapes, tests après chacune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89670" y="249174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55430" y="1828800"/>
            <a:ext cx="2457450" cy="132588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Diff relu, puis Keep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11064240" cy="118872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0">
                <a:solidFill>
                  <a:srgbClr val="FFFFFF"/>
                </a:solidFill>
              </a:rPr>
              <a:t>Test de caractérisation : il fige le résultat actuel, bon ou mauvais,</a:t>
            </a:r>
          </a:p>
          <a:p>
            <a:pPr algn="ctr"/>
            <a:r>
              <a:rPr sz="1800" b="0">
                <a:solidFill>
                  <a:srgbClr val="FFFFFF"/>
                </a:solidFill>
              </a:rPr>
              <a:t>avant de toucher au code.</a:t>
            </a:r>
          </a:p>
        </p:txBody>
      </p:sp>
      <p:pic>
        <p:nvPicPr>
          <p:cNvPr id="11" name="Picture 10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À retenir : Copilot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Le contexte fait la qualité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Fichiers utiles, références #, AGENTS.md du projet.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Rien sans relecture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Diff relu, tests lancés, approbations manuelles.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Les exigences guident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Tests depuis la spécification, refactoring sous filet.</a:t>
            </a:r>
          </a:p>
        </p:txBody>
      </p:sp>
      <p:pic>
        <p:nvPicPr>
          <p:cNvPr id="9" name="Picture 8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Démo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Démo 2 : corriger un bug, générer des tests, refactoriser</a:t>
            </a:r>
          </a:p>
          <a:p>
            <a:r>
              <a:rPr sz="2000">
                <a:solidFill>
                  <a:srgbClr val="FFFFFF"/>
                </a:solidFill>
              </a:rPr>
              <a:t>demos/demo2_copilot_avance/</a:t>
            </a:r>
          </a:p>
          <a:p>
            <a:r>
              <a:rPr sz="2000">
                <a:solidFill>
                  <a:srgbClr val="FFFFFF"/>
                </a:solidFill>
              </a:rPr>
              <a:t>Durée : 15 min</a:t>
            </a:r>
          </a:p>
        </p:txBody>
      </p:sp>
      <p:pic>
        <p:nvPicPr>
          <p:cNvPr id="4" name="Picture 3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TP2 : un module Python de réservation de salles</a:t>
            </a:r>
          </a:p>
          <a:p>
            <a:r>
              <a:rPr sz="2000">
                <a:solidFill>
                  <a:srgbClr val="FFFFFF"/>
                </a:solidFill>
              </a:rPr>
              <a:t>tps/tp2_module_reservations/</a:t>
            </a:r>
          </a:p>
          <a:p>
            <a:r>
              <a:rPr sz="2000">
                <a:solidFill>
                  <a:srgbClr val="FFFFFF"/>
                </a:solidFill>
              </a:rPr>
              <a:t>Durée : 65 min</a:t>
            </a:r>
          </a:p>
        </p:txBody>
      </p:sp>
      <p:pic>
        <p:nvPicPr>
          <p:cNvPr id="4" name="Picture 3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Trois questions avant le déjeuner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6675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C1A37"/>
                </a:solidFill>
              </a:rPr>
              <a:t>AGENTS.md s'applique-t-il aux complétions en ligne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783080"/>
            <a:ext cx="4114800" cy="11430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2060"/>
                </a:solidFill>
              </a:rPr>
              <a:t>Non : au chat et aux agents seulement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6675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C1A37"/>
                </a:solidFill>
              </a:rPr>
              <a:t>Quel agent propose une démarche sans modifier les fichiers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108960"/>
            <a:ext cx="4114800" cy="11430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2060"/>
                </a:solidFill>
              </a:rPr>
              <a:t>Plan, en lecture seule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6675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C1A37"/>
                </a:solidFill>
              </a:rPr>
              <a:t>Un test généré échoue sur votre code : qui a raison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434840"/>
            <a:ext cx="4114800" cy="11430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02060"/>
                </a:solidFill>
              </a:rPr>
              <a:t>Celui qui respecte l'exigence écrite</a:t>
            </a:r>
          </a:p>
        </p:txBody>
      </p:sp>
      <p:pic>
        <p:nvPicPr>
          <p:cNvPr id="9" name="Picture 8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Exploiter ChatGPT et Codex pour développer</a:t>
            </a:r>
          </a:p>
        </p:txBody>
      </p:sp>
      <p:pic>
        <p:nvPicPr>
          <p:cNvPr id="3" name="Picture 2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"/>
            <a:ext cx="1066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Les outils utilisés pendant la séance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023360"/>
                <a:gridCol w="4297680"/>
              </a:tblGrid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Ce qu'il voit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Ce qu'il fait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Copilot (IDE)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Contexte choisi et résultats des outils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Complète, modifie, teste ; lit AGENTS.md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ChatGPT web, sans outils connectés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Fichiers et texte joints dans cet exercice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Cadre, explique, rédige ; code par copier-coller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Codex (CLI, IDE, cloud)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Le dépôt où il est lancé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Modifie, teste, relit ; lit AGENTS.md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80060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2060"/>
                </a:solidFill>
              </a:rPr>
              <a:t>Pour nos exercices : conversation web pour cadrer ; agent dans le dépôt pour agir.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3" grpId="0">
        <p:bldAsOne/>
      </p:bldGraphic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Codex : l'agent de code d'OpenAI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Codex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25603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codex dans le terminal du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79" y="178308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Extension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79" y="2651760"/>
            <a:ext cx="25603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VS Code, Cursor, Windsurf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openai.chatgpt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19" y="178308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Codex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9" y="2651760"/>
            <a:ext cx="25603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Tâches longues déléguées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Relues au retour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178308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App 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2651760"/>
            <a:ext cx="25603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600">
                <a:solidFill>
                  <a:srgbClr val="0C1A37"/>
                </a:solidFill>
              </a:rPr>
              <a:t>Bureau, web,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11064240" cy="11887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02060"/>
                </a:solidFill>
              </a:rPr>
              <a:t>Accès et modèles selon l’offre et la surface : vérifier le compte utilisé.</a:t>
            </a:r>
          </a:p>
          <a:p>
            <a:pPr algn="ctr"/>
            <a:r>
              <a:rPr sz="1700" b="1">
                <a:solidFill>
                  <a:srgbClr val="002060"/>
                </a:solidFill>
              </a:rPr>
              <a:t>Avec une clé d'API : facturé au tarif de l'API, sans les fonctions cloud.</a:t>
            </a:r>
          </a:p>
        </p:txBody>
      </p:sp>
      <p:pic>
        <p:nvPicPr>
          <p:cNvPr id="12" name="Picture 11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8" grpId="0" build="p"/>
      <p:bldP spid="10" grpId="0" build="p"/>
      <p:bldP spid="3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Codex dans VS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2457450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Extension openai.chatgpt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51810" y="224028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17570" y="1783080"/>
            <a:ext cx="2457450" cy="9144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Sign in with ChatGPT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20740" y="224028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86500" y="1783080"/>
            <a:ext cx="2457450" cy="9144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Permissions : Ask for approval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89670" y="224028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55430" y="1783080"/>
            <a:ext cx="2457450" cy="9144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Relire les lignes modifiées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Vérifier le contexte joint au prompt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Sélection : Add to Codex Thread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@ pour citer un fichier du dépôt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77840" y="3063240"/>
          <a:ext cx="603504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9319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Permissions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Ce que Codex peut faire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Ask for approval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Travaille dans le dossier, demande pour le reste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Approve for me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Revue automatique ; les actions à risque remontent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C1A37"/>
                          </a:solidFill>
                        </a:rPr>
                        <a:t>Full access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C1A37"/>
                          </a:solidFill>
                        </a:rPr>
                        <a:t>Internet et tous les fichiers : à proscrire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  <p:bldP spid="5" grpId="0" animBg="1"/>
      <p:bldP spid="7" grpId="0" animBg="1"/>
      <p:bldP spid="9" grpId="0" animBg="1"/>
      <p:bldGraphic spid="11" grpId="0">
        <p:bldAsOne/>
      </p:bldGraphic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Démo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Démo 3 : Codex dans VS Code</a:t>
            </a:r>
          </a:p>
          <a:p>
            <a:r>
              <a:rPr sz="2000">
                <a:solidFill>
                  <a:srgbClr val="FFFFFF"/>
                </a:solidFill>
              </a:rPr>
              <a:t>demos/demo3_codex_vscode/</a:t>
            </a:r>
          </a:p>
          <a:p>
            <a:r>
              <a:rPr sz="2000">
                <a:solidFill>
                  <a:srgbClr val="FFFFFF"/>
                </a:solidFill>
              </a:rPr>
              <a:t>Durée : 8 min</a:t>
            </a:r>
          </a:p>
        </p:txBody>
      </p:sp>
      <p:pic>
        <p:nvPicPr>
          <p:cNvPr id="4" name="Picture 3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Anatomie d'un prompt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2377440" cy="56692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</a:rPr>
              <a:t>Rôle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1828800"/>
            <a:ext cx="84124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0C1A37"/>
                </a:solidFill>
              </a:rPr>
              <a:t>Tu es un relecteur Python senior.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96312"/>
            <a:ext cx="2377440" cy="566928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2542032"/>
            <a:ext cx="84124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0C1A37"/>
                </a:solidFill>
              </a:rPr>
              <a:t>Script d'import CSV quotidien, 10 000 lignes, Python 3.12.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9544"/>
            <a:ext cx="2377440" cy="566928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Tâche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255263"/>
            <a:ext cx="84124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0C1A37"/>
                </a:solidFill>
              </a:rPr>
              <a:t>Fais la revue du code ci-dessous.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22776"/>
            <a:ext cx="2377440" cy="566928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Contraintes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968496"/>
            <a:ext cx="84124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0C1A37"/>
                </a:solidFill>
              </a:rPr>
              <a:t>Problèmes réels seulement ; pas de réécriture complète.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36008"/>
            <a:ext cx="2377440" cy="56692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681728"/>
            <a:ext cx="84124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0C1A37"/>
                </a:solidFill>
              </a:rPr>
              <a:t>Tableau : ligne, gravité, correction.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02060"/>
                </a:solidFill>
              </a:rPr>
              <a:t>Données (code, traceback) délimitées par """ ou par des balises</a:t>
            </a:r>
          </a:p>
        </p:txBody>
      </p:sp>
      <p:pic>
        <p:nvPicPr>
          <p:cNvPr id="14" name="Picture 13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Prompt naïf, prompt structuré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800">
                <a:solidFill>
                  <a:srgbClr val="0C1A37"/>
                </a:solidFill>
              </a:rPr>
              <a:t>Est-ce que ce code est bon ?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""" &lt;code&gt; """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Naïf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43400"/>
            <a:ext cx="5394960" cy="10972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0">
                <a:solidFill>
                  <a:srgbClr val="FFFFFF"/>
                </a:solidFill>
              </a:rPr>
              <a:t>Critères implicites : analyser ce que le modèle a choisi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500">
                <a:solidFill>
                  <a:srgbClr val="0C1A37"/>
                </a:solidFill>
              </a:rPr>
              <a:t>Rôle : relecteur Python senior.</a:t>
            </a:r>
          </a:p>
          <a:p>
            <a:pPr algn="l"/>
            <a:r>
              <a:rPr sz="1500">
                <a:solidFill>
                  <a:srgbClr val="0C1A37"/>
                </a:solidFill>
              </a:rPr>
              <a:t>Contexte : import CSV quotidien, Python 3.12.</a:t>
            </a:r>
          </a:p>
          <a:p>
            <a:pPr algn="l"/>
            <a:r>
              <a:rPr sz="1500">
                <a:solidFill>
                  <a:srgbClr val="0C1A37"/>
                </a:solidFill>
              </a:rPr>
              <a:t>Tâche : revue du code ci-dessous.</a:t>
            </a:r>
          </a:p>
          <a:p>
            <a:pPr algn="l"/>
            <a:r>
              <a:rPr sz="1500">
                <a:solidFill>
                  <a:srgbClr val="0C1A37"/>
                </a:solidFill>
              </a:rPr>
              <a:t>Contraintes : problèmes réels, pas de réécriture.</a:t>
            </a:r>
          </a:p>
          <a:p>
            <a:pPr algn="l"/>
            <a:r>
              <a:rPr sz="1500">
                <a:solidFill>
                  <a:srgbClr val="0C1A37"/>
                </a:solidFill>
              </a:rPr>
              <a:t>Format : tableau ligne / gravité / correction.</a:t>
            </a:r>
          </a:p>
          <a:p>
            <a:pPr algn="l"/>
            <a:r>
              <a:rPr sz="1500">
                <a:solidFill>
                  <a:srgbClr val="0C1A37"/>
                </a:solidFill>
              </a:rPr>
              <a:t>""" &lt;code&gt; """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Structuré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43400"/>
            <a:ext cx="5394960" cy="10972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02060"/>
                </a:solidFill>
              </a:rPr>
              <a:t>Critères explicites : vérifier le résultat obtenu</a:t>
            </a:r>
          </a:p>
        </p:txBody>
      </p:sp>
      <p:pic>
        <p:nvPicPr>
          <p:cNvPr id="9" name="Picture 8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Donner des exemples (few-shot)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6675120" cy="402336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800">
                <a:solidFill>
                  <a:srgbClr val="0C1A37"/>
                </a:solidFill>
              </a:rPr>
              <a:t>Transforme chaque message de commit en entrée de changelog.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/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Entrée : fix(export): dates ISO dans le CSV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Sortie : - **export** : dates ISO dans le CSV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/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Entrée : feat: mode sombre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Sortie : - mode sombre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/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Entrée : feat(api)!: supprime la route /v1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Sortie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Quelques exemples précisent le format attendu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Des exemples variés, cas limite compris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Le format obtenu reste à contrôler</a:t>
            </a:r>
          </a:p>
        </p:txBody>
      </p:sp>
      <p:pic>
        <p:nvPicPr>
          <p:cNvPr id="6" name="Picture 5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animBg="1"/>
      <p:bldP spid="4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Générer du code à partir d'un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Version, bibliothèques, signature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Cas limites et erreurs attendues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Demander aussi les tests et les hypothèses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Préciser le prompt plutôt qu'empiler les corrections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78308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700">
                <a:solidFill>
                  <a:srgbClr val="0C1A37"/>
                </a:solidFill>
              </a:rPr>
              <a:t>Écris en Python 3.12, sans dépendance,</a:t>
            </a:r>
          </a:p>
          <a:p>
            <a:pPr algn="l"/>
            <a:r>
              <a:rPr sz="1700">
                <a:solidFill>
                  <a:srgbClr val="0C1A37"/>
                </a:solidFill>
              </a:rPr>
              <a:t>une fonction duree_en_minutes(texte) -&gt; int.</a:t>
            </a:r>
          </a:p>
          <a:p>
            <a:pPr algn="l"/>
            <a:r>
              <a:rPr sz="1700">
                <a:solidFill>
                  <a:srgbClr val="0C1A37"/>
                </a:solidFill>
              </a:rPr>
              <a:t>Entrées : "1h30", "2h", "45min".</a:t>
            </a:r>
          </a:p>
          <a:p>
            <a:pPr algn="l"/>
            <a:r>
              <a:rPr sz="1700">
                <a:solidFill>
                  <a:srgbClr val="0C1A37"/>
                </a:solidFill>
              </a:rPr>
              <a:t>Format inconnu : ValueError.</a:t>
            </a:r>
          </a:p>
          <a:p>
            <a:pPr algn="l"/>
            <a:r>
              <a:rPr sz="1700">
                <a:solidFill>
                  <a:srgbClr val="0C1A37"/>
                </a:solidFill>
              </a:rPr>
              <a:t>Donne ensuite 5 tests pytest,</a:t>
            </a:r>
          </a:p>
          <a:p>
            <a:pPr algn="l"/>
            <a:r>
              <a:rPr sz="1700">
                <a:solidFill>
                  <a:srgbClr val="0C1A37"/>
                </a:solidFill>
              </a:rPr>
              <a:t>dont 2 cas limites, puis tes hypothèses.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74519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Prompt</a:t>
            </a:r>
          </a:p>
        </p:txBody>
      </p:sp>
      <p:pic>
        <p:nvPicPr>
          <p:cNvPr id="6" name="Picture 5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Revue de code : donner les règles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6126480" cy="320040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800">
                <a:solidFill>
                  <a:srgbClr val="0C1A37"/>
                </a:solidFill>
              </a:rPr>
              <a:t>Rôle : relecteur senior, attentif à la sécurité.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Contexte : calcul des notes de frais.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Règles : """ &lt;SPEC.md&gt; """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Tâche : revue du script.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Contraintes : problèmes réels seulement.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Format : tableau trié par gravité.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Code : """ &lt;code, secrets masqués&gt; """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Donner la référence : spécification, règles</a:t>
            </a:r>
          </a:p>
          <a:p>
            <a:pPr marL="274320" indent="-274320">
              <a:spcAft>
                <a:spcPts val="12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Exiger ligne, gravité, correction</a:t>
            </a:r>
          </a:p>
          <a:p>
            <a:pPr marL="274320" indent="-274320">
              <a:spcAft>
                <a:spcPts val="12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Vérifier chaque point dans le code</a:t>
            </a:r>
          </a:p>
          <a:p>
            <a:pPr marL="274320" indent="-274320">
              <a:spcAft>
                <a:spcPts val="12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Masquer secrets et données personnelles</a:t>
            </a:r>
          </a:p>
          <a:p>
            <a:pPr marL="274320" indent="-274320">
              <a:spcAft>
                <a:spcPts val="12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Dans le dépôt : /review de Codex</a:t>
            </a:r>
          </a:p>
        </p:txBody>
      </p:sp>
      <p:pic>
        <p:nvPicPr>
          <p:cNvPr id="6" name="Picture 5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animBg="1"/>
      <p:bldP spid="4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Documenter sans inventer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700">
                <a:solidFill>
                  <a:srgbClr val="0C1A37"/>
                </a:solidFill>
              </a:rPr>
              <a:t>Écris les docstrings des fonctions ci-dessous, puis une section README « Utilisation » de 10 lignes maximum.</a:t>
            </a:r>
          </a:p>
          <a:p>
            <a:pPr algn="l"/>
            <a:r>
              <a:rPr sz="1700">
                <a:solidFill>
                  <a:srgbClr val="0C1A37"/>
                </a:solidFill>
              </a:rPr>
              <a:t>Documente uniquement ce que fait le code : n'invente ni option ni format.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def normaliser_telephone(brut: str) -&gt; str | None: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"""Ramène un numéro français au format 0XXXXXXXXX.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Accepte les espaces, les points et l'indicatif +33.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Renvoie None si la valeur n'est pas un numéro valide.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"""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8A4F"/>
                </a:solidFill>
              </a:rPr>
              <a:t>Relire chaque phrase contre le code : une documentation fausse est pire qu'absente.</a:t>
            </a:r>
          </a:p>
        </p:txBody>
      </p:sp>
      <p:pic>
        <p:nvPicPr>
          <p:cNvPr id="7" name="Picture 6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Déboguer : symptôme, attendu, reproduction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2457450" cy="105156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Commande et données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51810" y="23088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17570" y="1783080"/>
            <a:ext cx="2457450" cy="105156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Sortie obtenue ou traceback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20740" y="23088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86500" y="1783080"/>
            <a:ext cx="2457450" cy="105156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Sortie attendue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89670" y="2308860"/>
            <a:ext cx="320040" cy="0"/>
          </a:xfrm>
          <a:prstGeom prst="line">
            <a:avLst/>
          </a:prstGeom>
          <a:ln w="25400">
            <a:solidFill>
              <a:srgbClr val="0C1A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55430" y="1783080"/>
            <a:ext cx="2457450" cy="105156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Cause, puis correctif minimal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4680"/>
            <a:ext cx="11064240" cy="2377440"/>
          </a:xfrm>
          <a:prstGeom prst="roundRect">
            <a:avLst>
              <a:gd name="adj" fmla="val 5000"/>
            </a:avLst>
          </a:prstGeom>
          <a:solidFill>
            <a:srgbClr val="E8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411480"/>
          <a:lstStyle/>
          <a:p>
            <a:pPr algn="l"/>
            <a:r>
              <a:rPr sz="1800">
                <a:solidFill>
                  <a:srgbClr val="0C1A37"/>
                </a:solidFill>
              </a:rPr>
              <a:t>Commande : uv run python import_contacts.py contacts.csv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Obtenu : Alice Martin apparaît deux fois, les numéros perdent leur 0.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Attendu : 3 contacts, numéros au format 0612345678.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Explique la cause de chaque écart, puis propose le correctif minimal.</a:t>
            </a:r>
          </a:p>
          <a:p>
            <a:pPr algn="l"/>
            <a:r>
              <a:rPr sz="1800">
                <a:solidFill>
                  <a:srgbClr val="0C1A37"/>
                </a:solidFill>
              </a:rPr>
              <a:t>""" &lt;code&gt; """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188720" cy="27432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02060"/>
                </a:solidFill>
              </a:rPr>
              <a:t>Prompt</a:t>
            </a:r>
          </a:p>
        </p:txBody>
      </p:sp>
      <p:pic>
        <p:nvPicPr>
          <p:cNvPr id="12" name="Picture 11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Les limites à garder en tête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Réponses inventées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Fonction, option ou API qui n'existe pas : on vérifie.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Connaissances datées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Connaissances d’entraînement datées : vérifier les versions récentes.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Réponses variables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Les réponses peuvent varier : tester le comportement retenu.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Contexte limité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Vérifier le contexte réellement fourni.</a:t>
            </a:r>
          </a:p>
        </p:txBody>
      </p:sp>
      <p:pic>
        <p:nvPicPr>
          <p:cNvPr id="11" name="Picture 10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L'API OpenAI dans votre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7040880" cy="393192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700" i="0" b="0">
                <a:solidFill>
                  <a:srgbClr val="9CC7F5"/>
                </a:solidFill>
                <a:latin typeface="Courier New"/>
              </a:rPr>
              <a:t># uv sync à la racine ; clé dans OPENAI_API_KEY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from openai import OpenAI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client = OpenAI()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reponse = client.responses.create(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model="gpt-6-luna",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instructions="Classe ce ticket support.",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input="Mon paiement a été débité deux fois.",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    store=False,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)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print(reponse.output_text)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82880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Un ticket reçu déclenche l'appel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Les règles et le message sont l'entrée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Le classement reste à vérifier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Choisir un modèle, estimer le coût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11064240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438912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Positionnement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Entrée / 1 M jetons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Sortie / 1 M jetons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gpt-6-astra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Le plus capable, travail exigeant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10,00 $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50,00 $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gpt-6.1-sol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Proche d'Astra, moins cher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2,00 $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10,00 $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gpt-6-luna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Le plus efficace, gros volumes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0,10 $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0,50 $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023360"/>
            <a:ext cx="11064240" cy="100584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0">
                <a:solidFill>
                  <a:srgbClr val="FFFFFF"/>
                </a:solidFill>
              </a:rPr>
              <a:t>Hypothèse par ticket avec gpt-6-luna : 1 000 jetons en entrée et 500 en sortie.</a:t>
            </a:r>
          </a:p>
          <a:p>
            <a:pPr algn="ctr"/>
            <a:r>
              <a:rPr sz="1700" b="0">
                <a:solidFill>
                  <a:srgbClr val="FFFFFF"/>
                </a:solidFill>
              </a:rPr>
              <a:t>1 000 x 0,10 $ / 1 M + 500 x 0,50 $ / 1 M = 0,00035 $, hors réessais.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674DC"/>
                </a:solidFill>
              </a:rPr>
              <a:t>Tarifs standard relevés le 09/10/2026 ; Luna revérifié le 23/10/2026.</a:t>
            </a:r>
          </a:p>
        </p:txBody>
      </p:sp>
      <p:pic>
        <p:nvPicPr>
          <p:cNvPr id="6" name="Picture 5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3" grpId="0">
        <p:bldAsOne/>
      </p:bldGraphic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Un ticket classé au format attendu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7223760" cy="420624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from typing import Literal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from pydantic import BaseModel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class TriageTicket(BaseModel):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    categorie: Literal[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        "livraison", "paiement", "produit", "autre"]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    priorite: Literal["normale", "haute"]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    resume: str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reponse = client.responses.parse(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    model="gpt-6-luna", input=ticket_json,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    text_format=TriageTicket, store=False)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if reponse.output_parsed is None: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    raise ValueError("Triage indisponible")</a:t>
            </a:r>
          </a:p>
          <a:p>
            <a:pPr algn="l"/>
            <a:r>
              <a:rPr sz="1650" i="0" b="0">
                <a:solidFill>
                  <a:srgbClr val="FFFFFF"/>
                </a:solidFill>
                <a:latin typeface="Courier New"/>
              </a:rPr>
              <a:t>triage = reponse.output_parsed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8288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Catégories et priorités imposées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Format validé, classement à relire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Une réponse absente est un échec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Les données envoyées à l'API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Pas d'entraînement par défaut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Les données de l'API ne servent pas à entraîner les modèles.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Journaux jusqu'à 30 jours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Pour la détection des abus ; plus si la loi l'impose.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store=False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Sinon l'état de la réponse est conservé 30 jours par défaut.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La clé est un secret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Clé dans l’environnement ; limite de dépense avec blocage activé.</a:t>
            </a:r>
          </a:p>
        </p:txBody>
      </p:sp>
      <p:pic>
        <p:nvPicPr>
          <p:cNvPr id="11" name="Picture 10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À retenir : ChatGPT, Codex et l'API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Le bon outil OpenAI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ChatGPT pour cadrer, Codex dans le dépôt, l'API dans vos applications.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Une demande adaptée à la tâche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Contexte utile, résultat attendu, contraintes vérifiables.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Tout se vérifie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Code testé, descriptions relues, appels API simulés.</a:t>
            </a:r>
          </a:p>
        </p:txBody>
      </p:sp>
      <p:pic>
        <p:nvPicPr>
          <p:cNvPr id="9" name="Picture 8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Démo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Démo 4 : ChatGPT pour le code, API pour le support</a:t>
            </a:r>
          </a:p>
          <a:p>
            <a:r>
              <a:rPr sz="2000">
                <a:solidFill>
                  <a:srgbClr val="FFFFFF"/>
                </a:solidFill>
              </a:rPr>
              <a:t>demos/demo4_chatgpt_api/</a:t>
            </a:r>
          </a:p>
          <a:p>
            <a:r>
              <a:rPr sz="2000">
                <a:solidFill>
                  <a:srgbClr val="FFFFFF"/>
                </a:solidFill>
              </a:rPr>
              <a:t>Durée : 12 min</a:t>
            </a:r>
          </a:p>
        </p:txBody>
      </p:sp>
      <p:pic>
        <p:nvPicPr>
          <p:cNvPr id="4" name="Picture 3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TP3 : développer avec Codex, intégrer l'API</a:t>
            </a:r>
          </a:p>
          <a:p>
            <a:r>
              <a:rPr sz="2000">
                <a:solidFill>
                  <a:srgbClr val="FFFFFF"/>
                </a:solidFill>
              </a:rPr>
              <a:t>tps/tp3_codex_api/</a:t>
            </a:r>
          </a:p>
          <a:p>
            <a:r>
              <a:rPr sz="2000">
                <a:solidFill>
                  <a:srgbClr val="FFFFFF"/>
                </a:solidFill>
              </a:rPr>
              <a:t>Durée : 50 min</a:t>
            </a:r>
          </a:p>
        </p:txBody>
      </p:sp>
      <p:pic>
        <p:nvPicPr>
          <p:cNvPr id="4" name="Picture 3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Combiner Copilot et ChatGPT</a:t>
            </a:r>
          </a:p>
        </p:txBody>
      </p:sp>
      <p:pic>
        <p:nvPicPr>
          <p:cNvPr id="3" name="Picture 2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Cas concret : un besoin, quatre contrôles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besoin.md vers spec.md avec ChatGPT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3291840"/>
            <a:ext cx="0" cy="548640"/>
          </a:xfrm>
          <a:prstGeom prst="line">
            <a:avLst/>
          </a:prstGeom>
          <a:ln w="25400">
            <a:solidFill>
              <a:srgbClr val="1674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3931920"/>
            <a:ext cx="2560320" cy="1097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0E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C1A37"/>
                </a:solidFill>
              </a:rPr>
              <a:t>Vous validez la spécification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Copilot Plan propose une démarche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63440" y="3291840"/>
            <a:ext cx="0" cy="548640"/>
          </a:xfrm>
          <a:prstGeom prst="line">
            <a:avLst/>
          </a:prstGeom>
          <a:ln w="25400">
            <a:solidFill>
              <a:srgbClr val="1674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3931920"/>
            <a:ext cx="2560320" cy="1097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0E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C1A37"/>
                </a:solidFill>
              </a:rPr>
              <a:t>Vous corrigez le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Copilot Agent : code et tests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79" y="3291840"/>
            <a:ext cx="0" cy="548640"/>
          </a:xfrm>
          <a:prstGeom prst="line">
            <a:avLst/>
          </a:prstGeom>
          <a:ln w="25400">
            <a:solidFill>
              <a:srgbClr val="1674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3931920"/>
            <a:ext cx="2560320" cy="1097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0E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C1A37"/>
                </a:solidFill>
              </a:rPr>
              <a:t>Vous relisez le diff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82880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Script versionné et /commande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2720" y="3291840"/>
            <a:ext cx="0" cy="548640"/>
          </a:xfrm>
          <a:prstGeom prst="line">
            <a:avLst/>
          </a:prstGeom>
          <a:ln w="25400">
            <a:solidFill>
              <a:srgbClr val="1674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52560" y="3931920"/>
            <a:ext cx="2560320" cy="1097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0E8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C1A37"/>
                </a:solidFill>
              </a:rPr>
              <a:t>Vous relisez la sortie</a:t>
            </a:r>
          </a:p>
        </p:txBody>
      </p:sp>
      <p:pic>
        <p:nvPicPr>
          <p:cNvPr id="15" name="Picture 1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Automatiser une tâche récurrente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Fichier de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25603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/commande dans le chat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Versionné dans le dépôt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79" y="178308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Script versionné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79" y="2651760"/>
            <a:ext cx="25603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Testable, sans appel à un modèle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Écrit et relu avec l'IA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19" y="178308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Script et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9" y="2651760"/>
            <a:ext cx="25603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Quand il faut du langage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Coût et données à maîtriser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178308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167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codex exec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2651760"/>
            <a:ext cx="25603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Un agent sans interaction</a:t>
            </a:r>
          </a:p>
          <a:p>
            <a:pPr marL="274320" indent="-274320">
              <a:spcAft>
                <a:spcPts val="600"/>
              </a:spcAft>
              <a:buClr>
                <a:srgbClr val="0E8A4F"/>
              </a:buClr>
              <a:buChar char="•"/>
            </a:pPr>
            <a:r>
              <a:rPr sz="1700">
                <a:solidFill>
                  <a:srgbClr val="0C1A37"/>
                </a:solidFill>
              </a:rPr>
              <a:t>Scripts et CI, droits limités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2060"/>
                </a:solidFill>
              </a:rPr>
              <a:t>D'abord le script simple ; l'IA seulement là où elle apporte quelque chose.</a:t>
            </a:r>
          </a:p>
        </p:txBody>
      </p:sp>
      <p:pic>
        <p:nvPicPr>
          <p:cNvPr id="12" name="Picture 11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8" grpId="0" build="p"/>
      <p:bldP spid="10" grpId="0" build="p"/>
      <p:bldP spid="3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Fichiers de prompt : cible Local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7498079" cy="420624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---</a:t>
            </a:r>
          </a:p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name: revue-avant-commit</a:t>
            </a:r>
          </a:p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description: Relire les modifications avant un commit</a:t>
            </a:r>
          </a:p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agent: ask</a:t>
            </a:r>
          </a:p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---</a:t>
            </a:r>
          </a:p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Relis les modifications non commitées (#search/changes).</a:t>
            </a:r>
          </a:p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Vérifie : bugs, secrets ajoutés, tests manquants,</a:t>
            </a:r>
          </a:p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conventions de AGENTS.md.</a:t>
            </a:r>
          </a:p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Réponds du plus grave au moins grave, avec fichier et ligne.</a:t>
            </a:r>
          </a:p>
          <a:p>
            <a:pPr algn="l"/>
            <a:r>
              <a:rPr sz="1500" i="0" b="0">
                <a:solidFill>
                  <a:srgbClr val="FFFFFF"/>
                </a:solidFill>
                <a:latin typeface="Courier New"/>
              </a:rPr>
              <a:t>Termine par un message de commit Conventional Commits.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Cible Local, puis dans le chat :</a:t>
            </a:r>
          </a:p>
          <a:p>
            <a:pPr marL="594359" indent="-274320">
              <a:spcAft>
                <a:spcPts val="1400"/>
              </a:spcAft>
              <a:buClr>
                <a:srgbClr val="0E8A4F"/>
              </a:buClr>
              <a:buChar char="–"/>
            </a:pPr>
            <a:r>
              <a:rPr sz="1600">
                <a:solidFill>
                  <a:srgbClr val="0C1A37"/>
                </a:solidFill>
              </a:rPr>
              <a:t>/revue-avant-commit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Variables : ${input:nom}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800">
                <a:solidFill>
                  <a:srgbClr val="0C1A37"/>
                </a:solidFill>
              </a:rPr>
              <a:t>Champs : agent, model, tools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Une stratégie d'usage quotidien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Le bon outil pour la tâche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Complétion pour écrire, Copilot ou Codex pour modifier, ChatGPT pour cadrer.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Des règles écrites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AGENTS.md et prompts versionnés, relus comme du code.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Toujours vérifier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Tests, diff relu, revue humaine avant la fusion.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Mesurer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Temps gagné, bugs évités, crédits et coût de l'API.</a:t>
            </a:r>
          </a:p>
        </p:txBody>
      </p:sp>
      <p:pic>
        <p:nvPicPr>
          <p:cNvPr id="11" name="Picture 10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Risques des assistants et des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Code non sûr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Failles, secrets en clair, dépendances vulnérables.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Injection de prompt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Instructions cachées dans un fichier, une page, une issue.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Agents avec vos droits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Ils agissent avec vos identifiants et vos accès.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Extensions et serveurs MCP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Code tiers à large accès : vérifier la source.</a:t>
            </a:r>
          </a:p>
        </p:txBody>
      </p:sp>
      <p:pic>
        <p:nvPicPr>
          <p:cNvPr id="11" name="Picture 10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Se protéger dans VS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Projet inconnu : mode restreint (Workspace Trust), agents désactivés</a:t>
            </a:r>
          </a:p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Approbations limitées à la session</a:t>
            </a:r>
          </a:p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Fichiers sensibles (.env) : chaque modification approuvée à la main</a:t>
            </a:r>
          </a:p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Sandbox des commandes : une couche de plus, pas une garantie</a:t>
            </a:r>
          </a:p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Chaque diff relu avant de commiter</a:t>
            </a:r>
          </a:p>
        </p:txBody>
      </p:sp>
      <p:pic>
        <p:nvPicPr>
          <p:cNvPr id="4" name="Picture 3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Confidentialité : où vont vos données 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1106424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4663440"/>
                <a:gridCol w="4663440"/>
              </a:tblGrid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Ce qu'il faut savoir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Réglage ou réflexe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Copilot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Compte et politiques d’organisation ; exclusion selon le mode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Vérifier les données autorisées ; exclusion absente en Edit/Agent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ChatGPT, Codex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Compte personnel : entraînement si le réglage est actif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Contrôles des données ; chat temporaire et personnalisation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API OpenAI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Pas d'entraînement par défaut ; journaux d’abus jusqu’à 30 jours, exceptions possibles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store=False ; Zero Data Retention sur approbation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98348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02060"/>
                </a:solidFill>
              </a:rPr>
              <a:t>La politique de votre entreprise décide du compte et des données autorisés.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3" grpId="0">
        <p:bldAsOne/>
      </p:bldGraphic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Éthique et propriété intellectuelle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Vous signez le commit : vous en répondez</a:t>
            </a:r>
          </a:p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Code public : bloquer les suggestions qui en reprennent</a:t>
            </a:r>
          </a:p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Transparence : signaler l'usage de l'IA selon la politique de l'équipe</a:t>
            </a:r>
          </a:p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Garder la main : comprendre ce qu'on garde</a:t>
            </a:r>
          </a:p>
          <a:p>
            <a:pPr marL="274320" indent="-274320">
              <a:spcAft>
                <a:spcPts val="1600"/>
              </a:spcAft>
              <a:buClr>
                <a:srgbClr val="0E8A4F"/>
              </a:buClr>
              <a:buChar char="•"/>
            </a:pPr>
            <a:r>
              <a:rPr sz="2000">
                <a:solidFill>
                  <a:srgbClr val="0C1A37"/>
                </a:solidFill>
              </a:rPr>
              <a:t>Pendant les exercices : données fictives uniquement</a:t>
            </a:r>
          </a:p>
        </p:txBody>
      </p:sp>
      <p:pic>
        <p:nvPicPr>
          <p:cNvPr id="4" name="Picture 3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3600" b="1">
                <a:solidFill>
                  <a:srgbClr val="0C1A37"/>
                </a:solidFill>
              </a:rPr>
              <a:t>Jamais de secret dans un prompt, jamais de code gardé sans relecture.</a:t>
            </a:r>
          </a:p>
        </p:txBody>
      </p:sp>
      <p:pic>
        <p:nvPicPr>
          <p:cNvPr id="4" name="Picture 3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Démo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Démo 5 : un outil de bout en bout, ChatGPT cadre, Copilot implémente</a:t>
            </a:r>
          </a:p>
          <a:p>
            <a:r>
              <a:rPr sz="2000">
                <a:solidFill>
                  <a:srgbClr val="FFFFFF"/>
                </a:solidFill>
              </a:rPr>
              <a:t>demos/demo5_projet_combine/</a:t>
            </a:r>
          </a:p>
          <a:p>
            <a:r>
              <a:rPr sz="2000">
                <a:solidFill>
                  <a:srgbClr val="FFFFFF"/>
                </a:solidFill>
              </a:rPr>
              <a:t>Durée : 10 min</a:t>
            </a:r>
          </a:p>
        </p:txBody>
      </p:sp>
      <p:pic>
        <p:nvPicPr>
          <p:cNvPr id="4" name="Picture 3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TP4 : générateur de changelog et charte d'usage</a:t>
            </a:r>
          </a:p>
          <a:p>
            <a:r>
              <a:rPr sz="2000">
                <a:solidFill>
                  <a:srgbClr val="FFFFFF"/>
                </a:solidFill>
              </a:rPr>
              <a:t>tps/tp4_projet_complet/</a:t>
            </a:r>
          </a:p>
          <a:p>
            <a:r>
              <a:rPr sz="2000">
                <a:solidFill>
                  <a:srgbClr val="FFFFFF"/>
                </a:solidFill>
              </a:rPr>
              <a:t>Durée : 60 min</a:t>
            </a:r>
          </a:p>
        </p:txBody>
      </p:sp>
      <p:pic>
        <p:nvPicPr>
          <p:cNvPr id="4" name="Picture 3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À retenir : travailler avec les deux outils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Une spécification relue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Les règles du projet guident le plan et les tests.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Des contrôles à chaque étape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Vérifier les données envoyées, le diff et la sortie.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Une tâche réutilisable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Script testé, prompt versionné, résultat vérifié.</a:t>
            </a:r>
          </a:p>
        </p:txBody>
      </p:sp>
      <p:pic>
        <p:nvPicPr>
          <p:cNvPr id="9" name="Picture 8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Restitution : vos chartes d'usage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 sz="1200">
                <a:solidFill>
                  <a:srgbClr val="0C1A37"/>
                </a:solidFill>
              </a:rPr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Une association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Votre meilleure paire outil et tâche de la journée.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200">
                <a:solidFill>
                  <a:srgbClr val="0C1A37"/>
                </a:solidFill>
              </a:rP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Une règle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La règle non négociable de votre charte.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sz="1200">
                <a:solidFill>
                  <a:srgbClr val="0C1A37"/>
                </a:solidFill>
              </a:rP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Une vérification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Le contrôle à garder avant d'accepter du code.</a:t>
            </a:r>
          </a:p>
        </p:txBody>
      </p:sp>
      <p:pic>
        <p:nvPicPr>
          <p:cNvPr id="12" name="Picture 11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Quiz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6675120" cy="9143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C1A37"/>
                </a:solidFill>
              </a:rPr>
              <a:t>Quel paramètre évite de stocker l’état de réponse API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737360"/>
            <a:ext cx="4114800" cy="8686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store=False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6675120" cy="9143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C1A37"/>
                </a:solidFill>
              </a:rPr>
              <a:t>Pourquoi des tests depuis la spécification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788920"/>
            <a:ext cx="4114800" cy="8686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Pour ne pas figer les bugs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79"/>
            <a:ext cx="6675120" cy="9143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C1A37"/>
                </a:solidFill>
              </a:rPr>
              <a:t>Cadrer un besoin flou ? Modifier 5 fichiers et tester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840479"/>
            <a:ext cx="4114800" cy="8686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ChatGPT ; Copilot ou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6675120" cy="9143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C1A37"/>
                </a:solidFill>
              </a:rPr>
              <a:t>Un mot de passe dans le fichier à faire relire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892040"/>
            <a:ext cx="4114800" cy="868680"/>
          </a:xfrm>
          <a:prstGeom prst="roundRect">
            <a:avLst>
              <a:gd name="adj" fmla="val 12000"/>
            </a:avLst>
          </a:prstGeom>
          <a:solidFill>
            <a:srgbClr val="5AE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002060"/>
                </a:solidFill>
              </a:rPr>
              <a:t>Le masquer, le retirer, le changer</a:t>
            </a:r>
          </a:p>
        </p:txBody>
      </p:sp>
      <p:pic>
        <p:nvPicPr>
          <p:cNvPr id="11" name="Picture 10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À retenir de la journée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Le contexte fait la qualité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Fichiers, AGENTS.md, prompts structurés.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Vous restez responsable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Relire, tester, comprendre avant de garder.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sz="2000">
                <a:solidFill>
                  <a:srgbClr val="0C1A37"/>
                </a:solidFill>
              </a:rPr>
              <a:t>Automatiser ce qui revient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rPr sz="1600">
                <a:solidFill>
                  <a:srgbClr val="0C1A37"/>
                </a:solidFill>
              </a:rPr>
              <a:t>Scripts, fichiers de prompt, API maîtrisée.</a:t>
            </a:r>
          </a:p>
        </p:txBody>
      </p:sp>
      <p:pic>
        <p:nvPicPr>
          <p:cNvPr id="9" name="Picture 8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Ressources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11064239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7498079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Sujet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Où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Copilot dans VS Code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code.visualstudio.com/docs/agents/quickstart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Documentation GitHub Copilot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docs.github.com/en/copilot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Bien écrire ses prompts (Copilot)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docs.github.com/en/copilot/concepts/prompting/prompt-engineering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Codex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learn.chatgpt.com/docs/codex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API OpenAI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developers.openai.com/api/docs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Données dans ChatGPT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help.openai.com, article « Data controls in ChatGPT »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C1A37"/>
                          </a:solidFill>
                        </a:rPr>
                        <a:t>Dépôt de la formation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C1A37"/>
                          </a:solidFill>
                        </a:rPr>
                        <a:t>demos/, tps/ et leurs corrigés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Merci !</a:t>
            </a:r>
          </a:p>
        </p:txBody>
      </p:sp>
      <p:pic>
        <p:nvPicPr>
          <p:cNvPr id="3" name="Picture 2" descr="logo_plb_fond_so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"/>
            <a:ext cx="1066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Codex en ligne de commande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4000"/>
            </a:avLst>
          </a:prstGeom>
          <a:solidFill>
            <a:srgbClr val="0B1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228600"/>
          <a:lstStyle/>
          <a:p>
            <a:pPr algn="l"/>
            <a:r>
              <a:rPr sz="1700" i="0" b="0">
                <a:solidFill>
                  <a:srgbClr val="9CC7F5"/>
                </a:solidFill>
                <a:latin typeface="Courier New"/>
              </a:rPr>
              <a:t># installation officielle (macOS, Linux), puis lancement dans le projet</a:t>
            </a:r>
          </a:p>
          <a:p>
            <a:pPr algn="l"/>
            <a:r>
              <a:rPr sz="1700" i="0" b="0">
                <a:solidFill>
                  <a:srgbClr val="FFFFFF"/>
                </a:solidFill>
                <a:latin typeface="Courier New"/>
              </a:rPr>
              <a:t>curl -fsSL https://chatgpt.com/codex/install.sh | sh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971800"/>
          <a:ext cx="11064240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841248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Commande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Rôle</a:t>
                      </a:r>
                    </a:p>
                  </a:txBody>
                  <a:tcPr marL="73152" marR="73152" anchor="ctr">
                    <a:solidFill>
                      <a:srgbClr val="1674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codex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Session interactive dans le dossier du projet (Sign in with ChatGPT)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/init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Crée AGENTS.md : le même fichier que lit Copilot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/permissions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Ce que Codex peut faire sans demander ; sandbox actif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/review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Relit les modifications en cours et signale les problèmes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/model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Choisit le modèle et l'effort de raisonnement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C1A37"/>
                          </a:solidFill>
                        </a:rPr>
                        <a:t>codex exec "..."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C1A37"/>
                          </a:solidFill>
                        </a:rPr>
                        <a:t>Mode non interactif : scripts et intégration continue</a:t>
                      </a:r>
                    </a:p>
                  </a:txBody>
                  <a:tcPr marL="73152" marR="73152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674DC"/>
                </a:solidFill>
              </a:rPr>
              <a:t>AGENTS.md lus : ~/.codex/ (global), puis du dépôt racine au dossier courant</a:t>
            </a:r>
          </a:p>
        </p:txBody>
      </p:sp>
      <p:pic>
        <p:nvPicPr>
          <p:cNvPr id="6" name="Picture 5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Graphic spid="4" grpId="0">
        <p:bldAsOne/>
      </p:bldGraphic>
    </p:bld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C1A37"/>
                </a:solidFill>
              </a:rPr>
              <a:t>Copilot et Codex dans le même éditeur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6766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Session Target : Copilot, Claude ou Codex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Codex : Sign in to ChatGPT, un compte gratuit suffit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Modèles groupés sous Copilot et ChatGPT</a:t>
            </a:r>
          </a:p>
          <a:p>
            <a:pPr marL="274320" indent="-274320">
              <a:spcAft>
                <a:spcPts val="1400"/>
              </a:spcAft>
              <a:buClr>
                <a:srgbClr val="0E8A4F"/>
              </a:buClr>
              <a:buChar char="•"/>
            </a:pPr>
            <a:r>
              <a:rPr sz="1900">
                <a:solidFill>
                  <a:srgbClr val="0C1A37"/>
                </a:solidFill>
              </a:rPr>
              <a:t>Le modèle choisi décide de l'abonnement utilisé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920240"/>
            <a:ext cx="3931920" cy="2743200"/>
          </a:xfrm>
          <a:prstGeom prst="roundRect">
            <a:avLst>
              <a:gd name="adj" fmla="val 12000"/>
            </a:avLst>
          </a:prstGeom>
          <a:solidFill>
            <a:srgbClr val="425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0">
                <a:solidFill>
                  <a:srgbClr val="FFFFFF"/>
                </a:solidFill>
              </a:rPr>
              <a:t>Dans la Chat view : expérimental (Agent Host Codex).</a:t>
            </a:r>
          </a:p>
          <a:p>
            <a:pPr algn="ctr"/>
            <a:r>
              <a:rPr sz="1700" b="0">
                <a:solidFill>
                  <a:srgbClr val="FFFFFF"/>
                </a:solidFill>
              </a:rPr>
              <a:t>Sinon : extension Codex (openai.chatgpt).</a:t>
            </a:r>
          </a:p>
          <a:p>
            <a:pPr algn="ctr"/>
            <a:r>
              <a:rPr sz="1700" b="0">
                <a:solidFill>
                  <a:srgbClr val="FFFFFF"/>
                </a:solidFill>
              </a:rPr>
              <a:t>À tester avant de l'adopter.</a:t>
            </a:r>
          </a:p>
        </p:txBody>
      </p:sp>
      <p:pic>
        <p:nvPicPr>
          <p:cNvPr id="5" name="Picture 4" descr="logo_plb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85344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global2.11">
      <a:dk1>
        <a:sysClr val="windowText" lastClr="000000"/>
      </a:dk1>
      <a:lt1>
        <a:sysClr val="window" lastClr="FFFFFF"/>
      </a:lt1>
      <a:dk2>
        <a:srgbClr val="1E55B8"/>
      </a:dk2>
      <a:lt2>
        <a:srgbClr val="6CABF0"/>
      </a:lt2>
      <a:accent1>
        <a:srgbClr val="1674DC"/>
      </a:accent1>
      <a:accent2>
        <a:srgbClr val="5AE495"/>
      </a:accent2>
      <a:accent3>
        <a:srgbClr val="4253EF"/>
      </a:accent3>
      <a:accent4>
        <a:srgbClr val="00B0F0"/>
      </a:accent4>
      <a:accent5>
        <a:srgbClr val="63C0F8"/>
      </a:accent5>
      <a:accent6>
        <a:srgbClr val="0070C0"/>
      </a:accent6>
      <a:hlink>
        <a:srgbClr val="002060"/>
      </a:hlink>
      <a:folHlink>
        <a:srgbClr val="7030A0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DA5489D-F149-42F3-BC44-7AEC22AD6F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30487B-DABF-4867-96A4-274E17D036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044193-9CEC-4B0C-A704-002174A4A58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PresentationFormat>Widescreen</PresentationFormat>
  <Paragraphs>146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等线</vt:lpstr>
      <vt:lpstr>Arial</vt:lpstr>
      <vt:lpstr>Poppins</vt:lpstr>
      <vt:lpstr>Poppins SemiBold</vt:lpstr>
      <vt:lpstr>Custom</vt:lpstr>
      <vt:lpstr>Sales Strategy</vt:lpstr>
      <vt:lpstr>Agenda</vt:lpstr>
      <vt:lpstr>Sales Strategy Introduction</vt:lpstr>
      <vt:lpstr>Overview</vt:lpstr>
      <vt:lpstr>Objectives</vt:lpstr>
      <vt:lpstr>Market Analysis</vt:lpstr>
      <vt:lpstr>Target Demographics</vt:lpstr>
      <vt:lpstr>Market Trends</vt:lpstr>
      <vt:lpstr>Competitive Advantages</vt:lpstr>
      <vt:lpstr>Strength Analysis</vt:lpstr>
      <vt:lpstr>Competitor Comparison</vt:lpstr>
      <vt:lpstr>Pricing Strategies</vt:lpstr>
      <vt:lpstr>Pricing Models</vt:lpstr>
      <vt:lpstr>Competitive Pricing</vt:lpstr>
      <vt:lpstr>Sales Channels</vt:lpstr>
      <vt:lpstr>Channel Overview</vt:lpstr>
      <vt:lpstr>Channel Effectiveness</vt:lpstr>
      <vt:lpstr>Implementation Plan</vt:lpstr>
      <vt:lpstr>Action Steps</vt:lpstr>
      <vt:lpstr>Timeline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2025-03-15T00:56:01Z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